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0" r:id="rId2"/>
    <p:sldId id="311" r:id="rId3"/>
    <p:sldId id="313" r:id="rId4"/>
    <p:sldId id="314" r:id="rId5"/>
    <p:sldId id="315" r:id="rId6"/>
    <p:sldId id="316" r:id="rId7"/>
    <p:sldId id="317" r:id="rId8"/>
    <p:sldId id="318" r:id="rId9"/>
    <p:sldId id="319" r:id="rId10"/>
    <p:sldId id="320" r:id="rId11"/>
    <p:sldId id="321" r:id="rId12"/>
    <p:sldId id="322" r:id="rId13"/>
    <p:sldId id="323" r:id="rId14"/>
    <p:sldId id="324" r:id="rId15"/>
    <p:sldId id="325" r:id="rId16"/>
    <p:sldId id="326" r:id="rId17"/>
    <p:sldId id="327" r:id="rId18"/>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00"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dirty="0" smtClean="0"/>
              <a:t>Haga clic para modificar el estilo de título del patrón</a:t>
            </a:r>
            <a:endParaRPr lang="es-PE" dirty="0"/>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editar el estilo de subtítulo del patrón</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639581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contenido 2"/>
          <p:cNvSpPr>
            <a:spLocks noGrp="1"/>
          </p:cNvSpPr>
          <p:nvPr>
            <p:ph idx="1"/>
          </p:nvPr>
        </p:nvSpPr>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859930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Editar el estilo de texto del patrón</a:t>
            </a:r>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9" name="Imagen 8"/>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053996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Haga clic para modificar el estilo de título del patrón</a:t>
            </a:r>
            <a:endParaRPr lang="es-PE" dirty="0"/>
          </a:p>
        </p:txBody>
      </p:sp>
      <p:sp>
        <p:nvSpPr>
          <p:cNvPr id="3" name="Marcador de contenido 2"/>
          <p:cNvSpPr>
            <a:spLocks noGrp="1"/>
          </p:cNvSpPr>
          <p:nvPr>
            <p:ph sz="half" idx="1"/>
          </p:nvPr>
        </p:nvSpPr>
        <p:spPr>
          <a:xfrm>
            <a:off x="838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contenido 3"/>
          <p:cNvSpPr>
            <a:spLocks noGrp="1"/>
          </p:cNvSpPr>
          <p:nvPr>
            <p:ph sz="half" idx="2"/>
          </p:nvPr>
        </p:nvSpPr>
        <p:spPr>
          <a:xfrm>
            <a:off x="6172200" y="1825625"/>
            <a:ext cx="5181600" cy="435133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9" name="CuadroTexto 8"/>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0" name="Imagen 9"/>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68732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PE"/>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7" name="Marcador de fecha 6"/>
          <p:cNvSpPr>
            <a:spLocks noGrp="1"/>
          </p:cNvSpPr>
          <p:nvPr>
            <p:ph type="dt" sz="half" idx="10"/>
          </p:nvPr>
        </p:nvSpPr>
        <p:spPr/>
        <p:txBody>
          <a:bodyPr/>
          <a:lstStyle/>
          <a:p>
            <a:fld id="{531C8478-8691-47AE-A71A-38912635015B}" type="datetimeFigureOut">
              <a:rPr lang="es-PE" smtClean="0"/>
              <a:t>19/10/2026</a:t>
            </a:fld>
            <a:endParaRPr lang="es-PE"/>
          </a:p>
        </p:txBody>
      </p:sp>
      <p:sp>
        <p:nvSpPr>
          <p:cNvPr id="8" name="Marcador de pie de página 7"/>
          <p:cNvSpPr>
            <a:spLocks noGrp="1"/>
          </p:cNvSpPr>
          <p:nvPr>
            <p:ph type="ftr" sz="quarter" idx="11"/>
          </p:nvPr>
        </p:nvSpPr>
        <p:spPr/>
        <p:txBody>
          <a:bodyPr/>
          <a:lstStyle/>
          <a:p>
            <a:endParaRPr lang="es-PE"/>
          </a:p>
        </p:txBody>
      </p:sp>
      <p:sp>
        <p:nvSpPr>
          <p:cNvPr id="9" name="Marcador de número de diapositiva 8"/>
          <p:cNvSpPr>
            <a:spLocks noGrp="1"/>
          </p:cNvSpPr>
          <p:nvPr>
            <p:ph type="sldNum" sz="quarter" idx="12"/>
          </p:nvPr>
        </p:nvSpPr>
        <p:spPr/>
        <p:txBody>
          <a:bodyPr/>
          <a:lstStyle/>
          <a:p>
            <a:fld id="{6EF99B91-E578-4989-98EC-F66D130D8317}" type="slidenum">
              <a:rPr lang="es-PE" smtClean="0"/>
              <a:t>‹Nº›</a:t>
            </a:fld>
            <a:endParaRPr lang="es-PE"/>
          </a:p>
        </p:txBody>
      </p:sp>
      <p:sp>
        <p:nvSpPr>
          <p:cNvPr id="11" name="CuadroTexto 10"/>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12" name="Imagen 11"/>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1511384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fecha 2"/>
          <p:cNvSpPr>
            <a:spLocks noGrp="1"/>
          </p:cNvSpPr>
          <p:nvPr>
            <p:ph type="dt" sz="half" idx="10"/>
          </p:nvPr>
        </p:nvSpPr>
        <p:spPr/>
        <p:txBody>
          <a:bodyPr/>
          <a:lstStyle/>
          <a:p>
            <a:fld id="{531C8478-8691-47AE-A71A-38912635015B}" type="datetimeFigureOut">
              <a:rPr lang="es-PE" smtClean="0"/>
              <a:t>19/10/2026</a:t>
            </a:fld>
            <a:endParaRPr lang="es-PE"/>
          </a:p>
        </p:txBody>
      </p:sp>
      <p:sp>
        <p:nvSpPr>
          <p:cNvPr id="4" name="Marcador de pie de página 3"/>
          <p:cNvSpPr>
            <a:spLocks noGrp="1"/>
          </p:cNvSpPr>
          <p:nvPr>
            <p:ph type="ftr" sz="quarter" idx="11"/>
          </p:nvPr>
        </p:nvSpPr>
        <p:spPr/>
        <p:txBody>
          <a:bodyPr/>
          <a:lstStyle/>
          <a:p>
            <a:endParaRPr lang="es-PE"/>
          </a:p>
        </p:txBody>
      </p:sp>
      <p:sp>
        <p:nvSpPr>
          <p:cNvPr id="5" name="Marcador de número de diapositiva 4"/>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pic>
        <p:nvPicPr>
          <p:cNvPr id="8" name="Imagen 7"/>
          <p:cNvPicPr>
            <a:picLocks noChangeAspect="1"/>
          </p:cNvPicPr>
          <p:nvPr userDrawn="1"/>
        </p:nvPicPr>
        <p:blipFill>
          <a:blip r:embed="rId2"/>
          <a:stretch>
            <a:fillRect/>
          </a:stretch>
        </p:blipFill>
        <p:spPr>
          <a:xfrm>
            <a:off x="0" y="6311900"/>
            <a:ext cx="12192000" cy="576656"/>
          </a:xfrm>
          <a:prstGeom prst="rect">
            <a:avLst/>
          </a:prstGeom>
        </p:spPr>
      </p:pic>
    </p:spTree>
    <p:extLst>
      <p:ext uri="{BB962C8B-B14F-4D97-AF65-F5344CB8AC3E}">
        <p14:creationId xmlns:p14="http://schemas.microsoft.com/office/powerpoint/2010/main" val="2350967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531C8478-8691-47AE-A71A-38912635015B}" type="datetimeFigureOut">
              <a:rPr lang="es-PE" smtClean="0"/>
              <a:t>19/10/2026</a:t>
            </a:fld>
            <a:endParaRPr lang="es-PE"/>
          </a:p>
        </p:txBody>
      </p:sp>
      <p:sp>
        <p:nvSpPr>
          <p:cNvPr id="3" name="Marcador de pie de página 2"/>
          <p:cNvSpPr>
            <a:spLocks noGrp="1"/>
          </p:cNvSpPr>
          <p:nvPr>
            <p:ph type="ftr" sz="quarter" idx="11"/>
          </p:nvPr>
        </p:nvSpPr>
        <p:spPr/>
        <p:txBody>
          <a:bodyPr/>
          <a:lstStyle/>
          <a:p>
            <a:endParaRPr lang="es-PE"/>
          </a:p>
        </p:txBody>
      </p:sp>
      <p:sp>
        <p:nvSpPr>
          <p:cNvPr id="4" name="Marcador de número de diapositiva 3"/>
          <p:cNvSpPr>
            <a:spLocks noGrp="1"/>
          </p:cNvSpPr>
          <p:nvPr>
            <p:ph type="sldNum" sz="quarter" idx="12"/>
          </p:nvPr>
        </p:nvSpPr>
        <p:spPr/>
        <p:txBody>
          <a:bodyPr/>
          <a:lstStyle/>
          <a:p>
            <a:fld id="{6EF99B91-E578-4989-98EC-F66D130D8317}" type="slidenum">
              <a:rPr lang="es-PE" smtClean="0"/>
              <a:t>‹Nº›</a:t>
            </a:fld>
            <a:endParaRPr lang="es-PE"/>
          </a:p>
        </p:txBody>
      </p:sp>
      <p:sp>
        <p:nvSpPr>
          <p:cNvPr id="5" name="CuadroTexto 4"/>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3070509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1440120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PE"/>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Editar el estilo de texto del patrón</a:t>
            </a:r>
          </a:p>
        </p:txBody>
      </p:sp>
      <p:sp>
        <p:nvSpPr>
          <p:cNvPr id="5" name="Marcador de fecha 4"/>
          <p:cNvSpPr>
            <a:spLocks noGrp="1"/>
          </p:cNvSpPr>
          <p:nvPr>
            <p:ph type="dt" sz="half" idx="10"/>
          </p:nvPr>
        </p:nvSpPr>
        <p:spPr/>
        <p:txBody>
          <a:bodyPr/>
          <a:lstStyle/>
          <a:p>
            <a:fld id="{531C8478-8691-47AE-A71A-38912635015B}" type="datetimeFigureOut">
              <a:rPr lang="es-PE" smtClean="0"/>
              <a:t>19/10/2026</a:t>
            </a:fld>
            <a:endParaRPr lang="es-PE"/>
          </a:p>
        </p:txBody>
      </p:sp>
      <p:sp>
        <p:nvSpPr>
          <p:cNvPr id="6" name="Marcador de pie de página 5"/>
          <p:cNvSpPr>
            <a:spLocks noGrp="1"/>
          </p:cNvSpPr>
          <p:nvPr>
            <p:ph type="ftr" sz="quarter" idx="11"/>
          </p:nvPr>
        </p:nvSpPr>
        <p:spPr/>
        <p:txBody>
          <a:bodyPr/>
          <a:lstStyle/>
          <a:p>
            <a:endParaRPr lang="es-PE"/>
          </a:p>
        </p:txBody>
      </p:sp>
      <p:sp>
        <p:nvSpPr>
          <p:cNvPr id="7" name="Marcador de número de diapositiva 6"/>
          <p:cNvSpPr>
            <a:spLocks noGrp="1"/>
          </p:cNvSpPr>
          <p:nvPr>
            <p:ph type="sldNum" sz="quarter" idx="12"/>
          </p:nvPr>
        </p:nvSpPr>
        <p:spPr/>
        <p:txBody>
          <a:bodyPr/>
          <a:lstStyle/>
          <a:p>
            <a:fld id="{6EF99B91-E578-4989-98EC-F66D130D8317}" type="slidenum">
              <a:rPr lang="es-PE" smtClean="0"/>
              <a:t>‹Nº›</a:t>
            </a:fld>
            <a:endParaRPr lang="es-PE"/>
          </a:p>
        </p:txBody>
      </p:sp>
      <p:sp>
        <p:nvSpPr>
          <p:cNvPr id="8" name="CuadroTexto 7"/>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7313329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4043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PE"/>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10"/>
          </p:nvPr>
        </p:nvSpPr>
        <p:spPr/>
        <p:txBody>
          <a:bodyPr/>
          <a:lstStyle/>
          <a:p>
            <a:fld id="{531C8478-8691-47AE-A71A-38912635015B}" type="datetimeFigureOut">
              <a:rPr lang="es-PE" smtClean="0"/>
              <a:t>19/10/2026</a:t>
            </a:fld>
            <a:endParaRPr lang="es-PE"/>
          </a:p>
        </p:txBody>
      </p:sp>
      <p:sp>
        <p:nvSpPr>
          <p:cNvPr id="5" name="Marcador de pie de página 4"/>
          <p:cNvSpPr>
            <a:spLocks noGrp="1"/>
          </p:cNvSpPr>
          <p:nvPr>
            <p:ph type="ftr" sz="quarter" idx="11"/>
          </p:nvPr>
        </p:nvSpPr>
        <p:spPr/>
        <p:txBody>
          <a:bodyPr/>
          <a:lstStyle/>
          <a:p>
            <a:endParaRPr lang="es-PE"/>
          </a:p>
        </p:txBody>
      </p:sp>
      <p:sp>
        <p:nvSpPr>
          <p:cNvPr id="6" name="Marcador de número de diapositiva 5"/>
          <p:cNvSpPr>
            <a:spLocks noGrp="1"/>
          </p:cNvSpPr>
          <p:nvPr>
            <p:ph type="sldNum" sz="quarter" idx="12"/>
          </p:nvPr>
        </p:nvSpPr>
        <p:spPr/>
        <p:txBody>
          <a:bodyPr/>
          <a:lstStyle/>
          <a:p>
            <a:fld id="{6EF99B91-E578-4989-98EC-F66D130D8317}" type="slidenum">
              <a:rPr lang="es-PE" smtClean="0"/>
              <a:t>‹Nº›</a:t>
            </a:fld>
            <a:endParaRPr lang="es-PE"/>
          </a:p>
        </p:txBody>
      </p:sp>
      <p:sp>
        <p:nvSpPr>
          <p:cNvPr id="7" name="CuadroTexto 6"/>
          <p:cNvSpPr txBox="1"/>
          <p:nvPr userDrawn="1"/>
        </p:nvSpPr>
        <p:spPr>
          <a:xfrm>
            <a:off x="534572" y="6311900"/>
            <a:ext cx="1772216" cy="369332"/>
          </a:xfrm>
          <a:prstGeom prst="rect">
            <a:avLst/>
          </a:prstGeom>
          <a:noFill/>
        </p:spPr>
        <p:txBody>
          <a:bodyPr wrap="none" rtlCol="0">
            <a:spAutoFit/>
          </a:bodyPr>
          <a:lstStyle/>
          <a:p>
            <a:r>
              <a:rPr lang="en-US" dirty="0" smtClean="0">
                <a:solidFill>
                  <a:schemeClr val="bg1"/>
                </a:solidFill>
              </a:rPr>
              <a:t>A00 Introduction</a:t>
            </a:r>
            <a:endParaRPr lang="en-US" dirty="0">
              <a:solidFill>
                <a:schemeClr val="bg1"/>
              </a:solidFill>
            </a:endParaRPr>
          </a:p>
        </p:txBody>
      </p:sp>
    </p:spTree>
    <p:extLst>
      <p:ext uri="{BB962C8B-B14F-4D97-AF65-F5344CB8AC3E}">
        <p14:creationId xmlns:p14="http://schemas.microsoft.com/office/powerpoint/2010/main" val="2789925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81C7DB2-ECDB-A37C-F439-982980FF00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1101360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C1FCB36-12BC-C02E-4036-86F246ECFE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Tree>
    <p:extLst>
      <p:ext uri="{BB962C8B-B14F-4D97-AF65-F5344CB8AC3E}">
        <p14:creationId xmlns:p14="http://schemas.microsoft.com/office/powerpoint/2010/main" val="2931165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9786937" cy="1325563"/>
          </a:xfrm>
          <a:prstGeom prst="rect">
            <a:avLst/>
          </a:prstGeom>
        </p:spPr>
        <p:txBody>
          <a:bodyPr vert="horz" lIns="91440" tIns="45720" rIns="91440" bIns="45720" rtlCol="0" anchor="ctr">
            <a:normAutofit/>
          </a:bodyPr>
          <a:lstStyle/>
          <a:p>
            <a:r>
              <a:rPr lang="es-ES" dirty="0" smtClean="0"/>
              <a:t>Haga clic para modificar el estilo de título del patrón</a:t>
            </a:r>
            <a:endParaRPr lang="es-PE" dirty="0"/>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PE"/>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1C8478-8691-47AE-A71A-38912635015B}" type="datetimeFigureOut">
              <a:rPr lang="es-PE" smtClean="0"/>
              <a:t>19/10/2026</a:t>
            </a:fld>
            <a:endParaRPr lang="es-PE"/>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F99B91-E578-4989-98EC-F66D130D8317}" type="slidenum">
              <a:rPr lang="es-PE" smtClean="0"/>
              <a:t>‹Nº›</a:t>
            </a:fld>
            <a:endParaRPr lang="es-PE"/>
          </a:p>
        </p:txBody>
      </p:sp>
      <p:pic>
        <p:nvPicPr>
          <p:cNvPr id="8" name="Imagen 7"/>
          <p:cNvPicPr>
            <a:picLocks noChangeAspect="1"/>
          </p:cNvPicPr>
          <p:nvPr userDrawn="1"/>
        </p:nvPicPr>
        <p:blipFill>
          <a:blip r:embed="rId15"/>
          <a:stretch>
            <a:fillRect/>
          </a:stretch>
        </p:blipFill>
        <p:spPr>
          <a:xfrm>
            <a:off x="10625137" y="185738"/>
            <a:ext cx="1457325" cy="752475"/>
          </a:xfrm>
          <a:prstGeom prst="rect">
            <a:avLst/>
          </a:prstGeom>
        </p:spPr>
      </p:pic>
      <p:pic>
        <p:nvPicPr>
          <p:cNvPr id="9" name="Imagen 8"/>
          <p:cNvPicPr>
            <a:picLocks noChangeAspect="1"/>
          </p:cNvPicPr>
          <p:nvPr userDrawn="1"/>
        </p:nvPicPr>
        <p:blipFill>
          <a:blip r:embed="rId16"/>
          <a:stretch>
            <a:fillRect/>
          </a:stretch>
        </p:blipFill>
        <p:spPr>
          <a:xfrm>
            <a:off x="0" y="6311900"/>
            <a:ext cx="12192000" cy="576656"/>
          </a:xfrm>
          <a:prstGeom prst="rect">
            <a:avLst/>
          </a:prstGeom>
        </p:spPr>
      </p:pic>
    </p:spTree>
    <p:extLst>
      <p:ext uri="{BB962C8B-B14F-4D97-AF65-F5344CB8AC3E}">
        <p14:creationId xmlns:p14="http://schemas.microsoft.com/office/powerpoint/2010/main" val="3356322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1" kern="1200">
          <a:solidFill>
            <a:srgbClr val="00CC9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396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90646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E200F1E-B117-90BE-B61B-8703C703EEC7}"/>
              </a:ext>
            </a:extLst>
          </p:cNvPr>
          <p:cNvSpPr>
            <a:spLocks noGrp="1"/>
          </p:cNvSpPr>
          <p:nvPr>
            <p:ph type="title"/>
          </p:nvPr>
        </p:nvSpPr>
        <p:spPr>
          <a:xfrm>
            <a:off x="812800" y="1701800"/>
            <a:ext cx="10261600" cy="1981200"/>
          </a:xfrm>
        </p:spPr>
        <p:txBody>
          <a:bodyPr/>
          <a:lstStyle/>
          <a:p>
            <a:pPr algn="ctr"/>
            <a:r>
              <a:rPr lang="es-PE" b="1" dirty="0" smtClean="0">
                <a:solidFill>
                  <a:srgbClr val="00CC99"/>
                </a:solidFill>
                <a:latin typeface="Monserrat"/>
              </a:rPr>
              <a:t>Seguridad de Aplicaciones Web y Apis basado en Vulnerabilidades OWASP Top 10:2025</a:t>
            </a:r>
            <a:endParaRPr lang="es-PE" b="1" dirty="0">
              <a:solidFill>
                <a:srgbClr val="00CC99"/>
              </a:solidFill>
              <a:latin typeface="Monserrat"/>
            </a:endParaRPr>
          </a:p>
        </p:txBody>
      </p:sp>
      <p:sp>
        <p:nvSpPr>
          <p:cNvPr id="7" name="Marcador de texto 2">
            <a:extLst>
              <a:ext uri="{FF2B5EF4-FFF2-40B4-BE49-F238E27FC236}">
                <a16:creationId xmlns:a16="http://schemas.microsoft.com/office/drawing/2014/main" id="{7F8D9756-A8D6-72FB-C028-ECCC347FC3E7}"/>
              </a:ext>
            </a:extLst>
          </p:cNvPr>
          <p:cNvSpPr txBox="1">
            <a:spLocks/>
          </p:cNvSpPr>
          <p:nvPr/>
        </p:nvSpPr>
        <p:spPr>
          <a:xfrm>
            <a:off x="3209600" y="3835400"/>
            <a:ext cx="5680400" cy="331070"/>
          </a:xfrm>
          <a:prstGeom prst="rect">
            <a:avLst/>
          </a:prstGeom>
        </p:spPr>
        <p:txBody>
          <a:bodyPr>
            <a:normAutofit fontScale="92500" lnSpcReduction="10000"/>
          </a:bodyPr>
          <a:lstStyle>
            <a:lvl1pPr marL="342900" indent="-342900" algn="l" defTabSz="914400" rtl="0" eaLnBrk="1" latinLnBrk="0" hangingPunct="1">
              <a:spcBef>
                <a:spcPct val="20000"/>
              </a:spcBef>
              <a:buFont typeface="Arial" pitchFamily="34" charset="0"/>
              <a:buChar char="•"/>
              <a:defRPr sz="2800" b="0" u="none"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marL="76204" indent="0" algn="ctr">
              <a:buNone/>
            </a:pPr>
            <a:r>
              <a:rPr lang="es-PE" sz="1867" dirty="0"/>
              <a:t>Instructor: Carlos Carreño</a:t>
            </a:r>
          </a:p>
        </p:txBody>
      </p:sp>
    </p:spTree>
    <p:extLst>
      <p:ext uri="{BB962C8B-B14F-4D97-AF65-F5344CB8AC3E}">
        <p14:creationId xmlns:p14="http://schemas.microsoft.com/office/powerpoint/2010/main" val="1496636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A10 </a:t>
            </a:r>
            <a:r>
              <a:rPr lang="es-PE" dirty="0"/>
              <a:t>Server-</a:t>
            </a:r>
            <a:r>
              <a:rPr lang="es-PE" dirty="0" err="1"/>
              <a:t>Side</a:t>
            </a:r>
            <a:r>
              <a:rPr lang="es-PE" dirty="0"/>
              <a:t> Request </a:t>
            </a:r>
            <a:r>
              <a:rPr lang="es-PE" dirty="0" err="1"/>
              <a:t>Forgery</a:t>
            </a:r>
            <a:r>
              <a:rPr lang="es-PE" dirty="0"/>
              <a:t> (SSRF</a:t>
            </a:r>
            <a:r>
              <a:rPr lang="es-PE" dirty="0" smtClean="0"/>
              <a:t>)</a:t>
            </a:r>
            <a:endParaRPr lang="en-US" dirty="0"/>
          </a:p>
        </p:txBody>
      </p:sp>
      <p:sp>
        <p:nvSpPr>
          <p:cNvPr id="3" name="Marcador de contenido 2"/>
          <p:cNvSpPr>
            <a:spLocks noGrp="1"/>
          </p:cNvSpPr>
          <p:nvPr>
            <p:ph idx="1"/>
          </p:nvPr>
        </p:nvSpPr>
        <p:spPr/>
        <p:txBody>
          <a:bodyPr>
            <a:normAutofit/>
          </a:bodyPr>
          <a:lstStyle/>
          <a:p>
            <a:r>
              <a:rPr lang="es-MX" dirty="0" smtClean="0"/>
              <a:t>Descripción</a:t>
            </a:r>
          </a:p>
          <a:p>
            <a:r>
              <a:rPr lang="es-MX" dirty="0" smtClean="0"/>
              <a:t>Vulnerabilidades</a:t>
            </a:r>
          </a:p>
          <a:p>
            <a:r>
              <a:rPr lang="es-MX" dirty="0" smtClean="0"/>
              <a:t>Prevención</a:t>
            </a:r>
          </a:p>
          <a:p>
            <a:r>
              <a:rPr lang="es-MX" dirty="0" smtClean="0"/>
              <a:t>Escenarios</a:t>
            </a:r>
          </a:p>
          <a:p>
            <a:r>
              <a:rPr lang="es-MX" dirty="0" smtClean="0"/>
              <a:t>Laboratorio</a:t>
            </a:r>
            <a:endParaRPr lang="en-US" dirty="0"/>
          </a:p>
        </p:txBody>
      </p:sp>
    </p:spTree>
    <p:extLst>
      <p:ext uri="{BB962C8B-B14F-4D97-AF65-F5344CB8AC3E}">
        <p14:creationId xmlns:p14="http://schemas.microsoft.com/office/powerpoint/2010/main" val="3692290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Descripción</a:t>
            </a:r>
            <a:endParaRPr lang="es-PE" dirty="0"/>
          </a:p>
        </p:txBody>
      </p:sp>
      <p:sp>
        <p:nvSpPr>
          <p:cNvPr id="3" name="Marcador de contenido 2"/>
          <p:cNvSpPr>
            <a:spLocks noGrp="1"/>
          </p:cNvSpPr>
          <p:nvPr>
            <p:ph idx="1"/>
          </p:nvPr>
        </p:nvSpPr>
        <p:spPr/>
        <p:txBody>
          <a:bodyPr/>
          <a:lstStyle/>
          <a:p>
            <a:r>
              <a:rPr lang="es-MX" dirty="0"/>
              <a:t>Si un atacante puede hacer que el servidor emita (normalmente) solicitudes HTTP en su nombre, entonces eso es SSRF.</a:t>
            </a:r>
          </a:p>
          <a:p>
            <a:r>
              <a:rPr lang="es-MX" dirty="0"/>
              <a:t>Por lo tanto, un atacante puede obtener acceso a servicios internos o externos para acceder o enviar material confidencial, como credenciales temporales de AWS asignadas a instancias EC2, recursos HTTP internos (servidores de desarrollo), realizar escaneo de puertos en la red interna, etc.</a:t>
            </a:r>
          </a:p>
          <a:p>
            <a:r>
              <a:rPr lang="es-MX" dirty="0"/>
              <a:t>Es simple y claro: una vulnerabilidad que le permite realizar solicitudes de forma gratuita a cualquier cosa que el servidor pueda ver.</a:t>
            </a:r>
            <a:endParaRPr lang="es-PE" dirty="0"/>
          </a:p>
        </p:txBody>
      </p:sp>
    </p:spTree>
    <p:extLst>
      <p:ext uri="{BB962C8B-B14F-4D97-AF65-F5344CB8AC3E}">
        <p14:creationId xmlns:p14="http://schemas.microsoft.com/office/powerpoint/2010/main" val="1155415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normAutofit lnSpcReduction="10000"/>
          </a:bodyPr>
          <a:lstStyle/>
          <a:p>
            <a:r>
              <a:rPr lang="es-MX" dirty="0"/>
              <a:t>Las fallas de SSRF ocurren cuando una aplicación web está obteniendo un recurso remoto sin validar la URL proporcionada por el usuario. Permite que un atacante coaccione a la aplicación para que envíe una solicitud falsificada a un destino inesperado, incluso cuando está protegido por un firewall, VPN u otro tipo de lista de control de acceso a la red (ACL).</a:t>
            </a:r>
          </a:p>
          <a:p>
            <a:r>
              <a:rPr lang="es-MX" dirty="0"/>
              <a:t>Dado que las aplicaciones web modernas brindan a los usuarios finales funciones convenientes, la búsqueda de una URL se convierte en un escenario común. Como resultado, la incidencia de SSRF está aumentando. Además, la gravedad de SSRF es cada vez mayor debido a los servicios en la nube y la complejidad de las arquitecturas.</a:t>
            </a:r>
          </a:p>
          <a:p>
            <a:endParaRPr lang="es-PE" dirty="0"/>
          </a:p>
        </p:txBody>
      </p:sp>
    </p:spTree>
    <p:extLst>
      <p:ext uri="{BB962C8B-B14F-4D97-AF65-F5344CB8AC3E}">
        <p14:creationId xmlns:p14="http://schemas.microsoft.com/office/powerpoint/2010/main" val="258145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r>
              <a:rPr lang="es-MX" dirty="0"/>
              <a:t>Esta vulnerabilidad generalmente ocurre en aplicaciones que toman URL del usuario y luego realizan solicitudes HTTP a la URL proporcionada, sin una validación de URL adecuada (excluyendo las IP internas, por ejemplo).</a:t>
            </a:r>
            <a:endParaRPr lang="es-PE" dirty="0"/>
          </a:p>
        </p:txBody>
      </p:sp>
    </p:spTree>
    <p:extLst>
      <p:ext uri="{BB962C8B-B14F-4D97-AF65-F5344CB8AC3E}">
        <p14:creationId xmlns:p14="http://schemas.microsoft.com/office/powerpoint/2010/main" val="18977880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Vulnerabilidades</a:t>
            </a:r>
            <a:endParaRPr lang="es-PE" dirty="0"/>
          </a:p>
        </p:txBody>
      </p:sp>
      <p:sp>
        <p:nvSpPr>
          <p:cNvPr id="3" name="Marcador de contenido 2"/>
          <p:cNvSpPr>
            <a:spLocks noGrp="1"/>
          </p:cNvSpPr>
          <p:nvPr>
            <p:ph idx="1"/>
          </p:nvPr>
        </p:nvSpPr>
        <p:spPr/>
        <p:txBody>
          <a:bodyPr/>
          <a:lstStyle/>
          <a:p>
            <a:r>
              <a:rPr lang="es-MX" dirty="0"/>
              <a:t>Una aplicación que envía solicitudes GET/POST a la URL del </a:t>
            </a:r>
            <a:r>
              <a:rPr lang="es-MX" dirty="0" err="1"/>
              <a:t>webhook</a:t>
            </a:r>
            <a:r>
              <a:rPr lang="es-MX" dirty="0"/>
              <a:t> proporcionada</a:t>
            </a:r>
          </a:p>
          <a:p>
            <a:r>
              <a:rPr lang="es-MX" dirty="0"/>
              <a:t>Una aplicación que muestra una vista previa de las URL.</a:t>
            </a:r>
          </a:p>
          <a:p>
            <a:endParaRPr lang="es-PE" dirty="0"/>
          </a:p>
        </p:txBody>
      </p:sp>
    </p:spTree>
    <p:extLst>
      <p:ext uri="{BB962C8B-B14F-4D97-AF65-F5344CB8AC3E}">
        <p14:creationId xmlns:p14="http://schemas.microsoft.com/office/powerpoint/2010/main" val="3346938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Prevención</a:t>
            </a:r>
            <a:endParaRPr lang="es-PE" dirty="0"/>
          </a:p>
        </p:txBody>
      </p:sp>
      <p:sp>
        <p:nvSpPr>
          <p:cNvPr id="3" name="Marcador de contenido 2"/>
          <p:cNvSpPr>
            <a:spLocks noGrp="1"/>
          </p:cNvSpPr>
          <p:nvPr>
            <p:ph idx="1"/>
          </p:nvPr>
        </p:nvSpPr>
        <p:spPr/>
        <p:txBody>
          <a:bodyPr>
            <a:normAutofit/>
          </a:bodyPr>
          <a:lstStyle/>
          <a:p>
            <a:pPr marL="0" indent="0">
              <a:buNone/>
            </a:pPr>
            <a:r>
              <a:rPr lang="es-MX" b="1" dirty="0" smtClean="0"/>
              <a:t>Desde </a:t>
            </a:r>
            <a:r>
              <a:rPr lang="es-MX" b="1" dirty="0"/>
              <a:t>la capa de red</a:t>
            </a:r>
            <a:endParaRPr lang="es-MX" dirty="0"/>
          </a:p>
          <a:p>
            <a:r>
              <a:rPr lang="es-MX" dirty="0" smtClean="0"/>
              <a:t>Segmente </a:t>
            </a:r>
            <a:r>
              <a:rPr lang="es-MX" dirty="0"/>
              <a:t>la funcionalidad de acceso a recursos remotos en redes separadas para reducir el impacto de SSRF</a:t>
            </a:r>
          </a:p>
          <a:p>
            <a:r>
              <a:rPr lang="es-MX" dirty="0"/>
              <a:t>Haga cumplir las políticas de firewall "denegar por defecto" o las reglas de control de acceso a la red para bloquear todo el tráfico de la intranet excepto el </a:t>
            </a:r>
            <a:r>
              <a:rPr lang="es-MX" dirty="0" smtClean="0"/>
              <a:t>esencial.</a:t>
            </a:r>
          </a:p>
          <a:p>
            <a:pPr lvl="1"/>
            <a:r>
              <a:rPr lang="es-MX" i="1" dirty="0" smtClean="0"/>
              <a:t>Consejos:</a:t>
            </a:r>
          </a:p>
          <a:p>
            <a:pPr lvl="2"/>
            <a:r>
              <a:rPr lang="es-MX" dirty="0" smtClean="0"/>
              <a:t>Establezca </a:t>
            </a:r>
            <a:r>
              <a:rPr lang="es-MX" dirty="0"/>
              <a:t>la propiedad y un ciclo de vida para las reglas de firewall basadas en </a:t>
            </a:r>
            <a:r>
              <a:rPr lang="es-MX" dirty="0" smtClean="0"/>
              <a:t>aplicaciones.</a:t>
            </a:r>
          </a:p>
          <a:p>
            <a:pPr lvl="2"/>
            <a:r>
              <a:rPr lang="es-MX" dirty="0" smtClean="0"/>
              <a:t>Registre </a:t>
            </a:r>
            <a:r>
              <a:rPr lang="es-MX" dirty="0"/>
              <a:t>en logs todos los flujos de red aceptados y bloqueados en firewalls</a:t>
            </a:r>
          </a:p>
          <a:p>
            <a:endParaRPr lang="es-PE" dirty="0"/>
          </a:p>
        </p:txBody>
      </p:sp>
    </p:spTree>
    <p:extLst>
      <p:ext uri="{BB962C8B-B14F-4D97-AF65-F5344CB8AC3E}">
        <p14:creationId xmlns:p14="http://schemas.microsoft.com/office/powerpoint/2010/main" val="32737105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normAutofit lnSpcReduction="10000"/>
          </a:bodyPr>
          <a:lstStyle/>
          <a:p>
            <a:pPr marL="0" indent="0">
              <a:buNone/>
            </a:pPr>
            <a:r>
              <a:rPr lang="es-MX" b="1" dirty="0"/>
              <a:t>Desde la capa de aplicación:</a:t>
            </a:r>
            <a:endParaRPr lang="es-MX" dirty="0"/>
          </a:p>
          <a:p>
            <a:r>
              <a:rPr lang="es-MX" dirty="0" err="1"/>
              <a:t>Sanitice</a:t>
            </a:r>
            <a:r>
              <a:rPr lang="es-MX" dirty="0"/>
              <a:t> y valide todos los datos de entrada proporcionados por el cliente</a:t>
            </a:r>
          </a:p>
          <a:p>
            <a:r>
              <a:rPr lang="es-MX" dirty="0"/>
              <a:t>Haga cumplir el esquema de URL, el puerto y destino a través de una lista positiva de </a:t>
            </a:r>
            <a:r>
              <a:rPr lang="es-MX" dirty="0" err="1"/>
              <a:t>items</a:t>
            </a:r>
            <a:r>
              <a:rPr lang="es-MX" dirty="0"/>
              <a:t> permitidos</a:t>
            </a:r>
          </a:p>
          <a:p>
            <a:r>
              <a:rPr lang="es-MX" dirty="0"/>
              <a:t>No envíe respuestas en formato "crudo" a los clientes</a:t>
            </a:r>
          </a:p>
          <a:p>
            <a:r>
              <a:rPr lang="es-MX" dirty="0"/>
              <a:t>Deshabilite las redirecciones HTTP</a:t>
            </a:r>
          </a:p>
          <a:p>
            <a:r>
              <a:rPr lang="es-MX" dirty="0"/>
              <a:t>Tenga en cuenta la coherencia de la URL para evitar ataques como el enlace de DNS y las condiciones de carrera de "tiempo de verificación, tiempo de uso" (TOCTOU por sus siglas en inglés)</a:t>
            </a:r>
          </a:p>
          <a:p>
            <a:endParaRPr lang="es-PE" dirty="0"/>
          </a:p>
        </p:txBody>
      </p:sp>
    </p:spTree>
    <p:extLst>
      <p:ext uri="{BB962C8B-B14F-4D97-AF65-F5344CB8AC3E}">
        <p14:creationId xmlns:p14="http://schemas.microsoft.com/office/powerpoint/2010/main" val="39202430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pPr marL="0" indent="0">
              <a:buNone/>
            </a:pPr>
            <a:r>
              <a:rPr lang="es-PE" b="1" dirty="0"/>
              <a:t>Medidas adicionales a considerar:</a:t>
            </a:r>
            <a:endParaRPr lang="es-PE" dirty="0"/>
          </a:p>
          <a:p>
            <a:r>
              <a:rPr lang="es-MX" dirty="0"/>
              <a:t>No implemente otros servicios relevantes para la seguridad en los sistemas frontales (por ejemplo, OpenID). Controle el tráfico local en estos sistemas (por ejemplo, </a:t>
            </a:r>
            <a:r>
              <a:rPr lang="es-MX" dirty="0" err="1"/>
              <a:t>localhost</a:t>
            </a:r>
            <a:r>
              <a:rPr lang="es-MX" dirty="0"/>
              <a:t>)</a:t>
            </a:r>
          </a:p>
          <a:p>
            <a:r>
              <a:rPr lang="es-MX" dirty="0"/>
              <a:t>Para </a:t>
            </a:r>
            <a:r>
              <a:rPr lang="es-MX" dirty="0" err="1"/>
              <a:t>frontends</a:t>
            </a:r>
            <a:r>
              <a:rPr lang="es-MX" dirty="0"/>
              <a:t> con grupos de usuarios dedicados y manejables, use el cifrado de red (por ejemplo, VPN) en sistemas independientes para considerar necesidades de protección muy altas</a:t>
            </a:r>
          </a:p>
          <a:p>
            <a:endParaRPr lang="es-PE" dirty="0"/>
          </a:p>
        </p:txBody>
      </p:sp>
    </p:spTree>
    <p:extLst>
      <p:ext uri="{BB962C8B-B14F-4D97-AF65-F5344CB8AC3E}">
        <p14:creationId xmlns:p14="http://schemas.microsoft.com/office/powerpoint/2010/main" val="3565175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continuación</a:t>
            </a:r>
            <a:endParaRPr lang="es-PE" dirty="0"/>
          </a:p>
        </p:txBody>
      </p:sp>
      <p:sp>
        <p:nvSpPr>
          <p:cNvPr id="3" name="Marcador de contenido 2"/>
          <p:cNvSpPr>
            <a:spLocks noGrp="1"/>
          </p:cNvSpPr>
          <p:nvPr>
            <p:ph idx="1"/>
          </p:nvPr>
        </p:nvSpPr>
        <p:spPr/>
        <p:txBody>
          <a:bodyPr/>
          <a:lstStyle/>
          <a:p>
            <a:pPr marL="0" indent="0">
              <a:buNone/>
            </a:pPr>
            <a:r>
              <a:rPr lang="es-PE" b="1" dirty="0" smtClean="0"/>
              <a:t>NOTA</a:t>
            </a:r>
            <a:r>
              <a:rPr lang="es-PE" dirty="0" smtClean="0"/>
              <a:t>:</a:t>
            </a:r>
          </a:p>
          <a:p>
            <a:r>
              <a:rPr lang="es-MX" dirty="0"/>
              <a:t>No mitigue SSRF mediante el uso de una lista de denegación o una expresión regular. Los atacantes poseen listas de </a:t>
            </a:r>
            <a:r>
              <a:rPr lang="es-MX" dirty="0" err="1"/>
              <a:t>payloads</a:t>
            </a:r>
            <a:r>
              <a:rPr lang="es-MX" dirty="0"/>
              <a:t>, herramientas y habilidades para eludir las listas de denegación.</a:t>
            </a:r>
            <a:endParaRPr lang="es-PE" dirty="0"/>
          </a:p>
        </p:txBody>
      </p:sp>
    </p:spTree>
    <p:extLst>
      <p:ext uri="{BB962C8B-B14F-4D97-AF65-F5344CB8AC3E}">
        <p14:creationId xmlns:p14="http://schemas.microsoft.com/office/powerpoint/2010/main" val="3897412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Escenarios</a:t>
            </a:r>
            <a:endParaRPr lang="es-PE" dirty="0"/>
          </a:p>
        </p:txBody>
      </p:sp>
      <p:sp>
        <p:nvSpPr>
          <p:cNvPr id="3" name="Marcador de contenido 2"/>
          <p:cNvSpPr>
            <a:spLocks noGrp="1"/>
          </p:cNvSpPr>
          <p:nvPr>
            <p:ph idx="1"/>
          </p:nvPr>
        </p:nvSpPr>
        <p:spPr/>
        <p:txBody>
          <a:bodyPr/>
          <a:lstStyle/>
          <a:p>
            <a:r>
              <a:rPr lang="es-MX" b="1" dirty="0"/>
              <a:t>Escenario #1:</a:t>
            </a:r>
            <a:r>
              <a:rPr lang="es-MX" dirty="0"/>
              <a:t> Escaneo de puertos de servidores internos – Si la arquitectura de red no se encuentra segmentada, los atacantes pueden trazar un mapa de las redes internas y determinar si los puertos están abiertos o cerrados en los servidores internos a partir de los resultados de la conexión o del tiempo transcurrido para conectar o rechazar las conexiones de </a:t>
            </a:r>
            <a:r>
              <a:rPr lang="es-MX" dirty="0" err="1"/>
              <a:t>payload</a:t>
            </a:r>
            <a:r>
              <a:rPr lang="es-MX" dirty="0"/>
              <a:t> SSRF.</a:t>
            </a:r>
            <a:endParaRPr lang="es-PE" dirty="0"/>
          </a:p>
        </p:txBody>
      </p:sp>
    </p:spTree>
    <p:extLst>
      <p:ext uri="{BB962C8B-B14F-4D97-AF65-F5344CB8AC3E}">
        <p14:creationId xmlns:p14="http://schemas.microsoft.com/office/powerpoint/2010/main" val="36062710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r>
              <a:rPr lang="es-MX" b="1" dirty="0"/>
              <a:t>Escenario #2:</a:t>
            </a:r>
            <a:r>
              <a:rPr lang="es-MX" dirty="0"/>
              <a:t> Exposición de datos sensibles: los atacantes pueden acceder a archivos locales como servicios internos para obtener información confidencial como</a:t>
            </a:r>
            <a:endParaRPr lang="es-PE" dirty="0"/>
          </a:p>
        </p:txBody>
      </p:sp>
      <p:sp>
        <p:nvSpPr>
          <p:cNvPr id="5" name="CuadroTexto 4"/>
          <p:cNvSpPr txBox="1"/>
          <p:nvPr/>
        </p:nvSpPr>
        <p:spPr>
          <a:xfrm>
            <a:off x="1153551" y="3319975"/>
            <a:ext cx="5059334" cy="369332"/>
          </a:xfrm>
          <a:prstGeom prst="rect">
            <a:avLst/>
          </a:prstGeom>
          <a:solidFill>
            <a:schemeClr val="accent5">
              <a:lumMod val="20000"/>
              <a:lumOff val="80000"/>
            </a:schemeClr>
          </a:solidFill>
        </p:spPr>
        <p:txBody>
          <a:bodyPr wrap="none" rtlCol="0">
            <a:spAutoFit/>
          </a:bodyPr>
          <a:lstStyle/>
          <a:p>
            <a:r>
              <a:rPr lang="es-PE" dirty="0"/>
              <a:t>file:///etc/passwd&lt;/span&gt; y http://localhost:28017/</a:t>
            </a:r>
          </a:p>
        </p:txBody>
      </p:sp>
    </p:spTree>
    <p:extLst>
      <p:ext uri="{BB962C8B-B14F-4D97-AF65-F5344CB8AC3E}">
        <p14:creationId xmlns:p14="http://schemas.microsoft.com/office/powerpoint/2010/main" val="35419998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r>
              <a:rPr lang="es-MX" b="1" dirty="0"/>
              <a:t>Escenario #3: </a:t>
            </a:r>
            <a:r>
              <a:rPr lang="es-MX" dirty="0"/>
              <a:t>Acceso al almacenamiento de metadatos de los servicios en la nube: la mayoría de los proveedores de la nube tienen almacenamiento de metadatos como http://169.254.169.254/. Un atacante puede leer los metadatos para obtener información confidencial.</a:t>
            </a:r>
            <a:endParaRPr lang="es-PE" dirty="0"/>
          </a:p>
        </p:txBody>
      </p:sp>
    </p:spTree>
    <p:extLst>
      <p:ext uri="{BB962C8B-B14F-4D97-AF65-F5344CB8AC3E}">
        <p14:creationId xmlns:p14="http://schemas.microsoft.com/office/powerpoint/2010/main" val="728573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PE"/>
          </a:p>
        </p:txBody>
      </p:sp>
      <p:sp>
        <p:nvSpPr>
          <p:cNvPr id="3" name="Marcador de contenido 2"/>
          <p:cNvSpPr>
            <a:spLocks noGrp="1"/>
          </p:cNvSpPr>
          <p:nvPr>
            <p:ph idx="1"/>
          </p:nvPr>
        </p:nvSpPr>
        <p:spPr/>
        <p:txBody>
          <a:bodyPr/>
          <a:lstStyle/>
          <a:p>
            <a:r>
              <a:rPr lang="es-MX" b="1" dirty="0"/>
              <a:t>Escenario #4:</a:t>
            </a:r>
            <a:r>
              <a:rPr lang="es-MX" dirty="0"/>
              <a:t> Exposición de los servicios internos: el atacante puede abusar de los servicios internos para realizar más ataques, como la ejecución remota de código (RCE) o la denegación de servicio (</a:t>
            </a:r>
            <a:r>
              <a:rPr lang="es-MX" dirty="0" err="1"/>
              <a:t>DoS</a:t>
            </a:r>
            <a:r>
              <a:rPr lang="es-MX" dirty="0"/>
              <a:t>).</a:t>
            </a:r>
            <a:endParaRPr lang="es-PE" dirty="0"/>
          </a:p>
        </p:txBody>
      </p:sp>
    </p:spTree>
    <p:extLst>
      <p:ext uri="{BB962C8B-B14F-4D97-AF65-F5344CB8AC3E}">
        <p14:creationId xmlns:p14="http://schemas.microsoft.com/office/powerpoint/2010/main" val="886806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PE" dirty="0" smtClean="0"/>
              <a:t>Laboratorio</a:t>
            </a:r>
            <a:endParaRPr lang="es-PE" dirty="0"/>
          </a:p>
        </p:txBody>
      </p:sp>
      <p:sp>
        <p:nvSpPr>
          <p:cNvPr id="3" name="Marcador de contenido 2"/>
          <p:cNvSpPr>
            <a:spLocks noGrp="1"/>
          </p:cNvSpPr>
          <p:nvPr>
            <p:ph idx="1"/>
          </p:nvPr>
        </p:nvSpPr>
        <p:spPr/>
        <p:txBody>
          <a:bodyPr/>
          <a:lstStyle/>
          <a:p>
            <a:r>
              <a:rPr lang="es-PE" dirty="0" smtClean="0"/>
              <a:t>Realizar el ejercicio </a:t>
            </a:r>
            <a:r>
              <a:rPr lang="es-PE" dirty="0" smtClean="0">
                <a:solidFill>
                  <a:srgbClr val="00B050"/>
                </a:solidFill>
              </a:rPr>
              <a:t>(A10) </a:t>
            </a:r>
            <a:r>
              <a:rPr lang="es-PE" dirty="0">
                <a:solidFill>
                  <a:srgbClr val="00B050"/>
                </a:solidFill>
              </a:rPr>
              <a:t>Server-</a:t>
            </a:r>
            <a:r>
              <a:rPr lang="es-PE" dirty="0" err="1">
                <a:solidFill>
                  <a:srgbClr val="00B050"/>
                </a:solidFill>
              </a:rPr>
              <a:t>Side</a:t>
            </a:r>
            <a:r>
              <a:rPr lang="es-PE" dirty="0">
                <a:solidFill>
                  <a:srgbClr val="00B050"/>
                </a:solidFill>
              </a:rPr>
              <a:t> Request </a:t>
            </a:r>
            <a:r>
              <a:rPr lang="es-PE" dirty="0" err="1">
                <a:solidFill>
                  <a:srgbClr val="00B050"/>
                </a:solidFill>
              </a:rPr>
              <a:t>Forgery</a:t>
            </a:r>
            <a:r>
              <a:rPr lang="es-PE" dirty="0">
                <a:solidFill>
                  <a:srgbClr val="00B050"/>
                </a:solidFill>
              </a:rPr>
              <a:t> (SSRF)</a:t>
            </a:r>
          </a:p>
          <a:p>
            <a:endParaRPr lang="es-PE" dirty="0">
              <a:solidFill>
                <a:srgbClr val="00B050"/>
              </a:solidFill>
            </a:endParaRPr>
          </a:p>
          <a:p>
            <a:endParaRPr lang="es-PE" dirty="0">
              <a:solidFill>
                <a:srgbClr val="00B050"/>
              </a:solidFill>
            </a:endParaRPr>
          </a:p>
          <a:p>
            <a:endParaRPr lang="es-PE" dirty="0">
              <a:solidFill>
                <a:srgbClr val="00B050"/>
              </a:solidFill>
            </a:endParaRPr>
          </a:p>
          <a:p>
            <a:endParaRPr lang="es-PE" dirty="0">
              <a:solidFill>
                <a:srgbClr val="00B050"/>
              </a:solidFill>
            </a:endParaRPr>
          </a:p>
        </p:txBody>
      </p:sp>
      <p:pic>
        <p:nvPicPr>
          <p:cNvPr id="4" name="Imagen 3"/>
          <p:cNvPicPr>
            <a:picLocks noChangeAspect="1"/>
          </p:cNvPicPr>
          <p:nvPr/>
        </p:nvPicPr>
        <p:blipFill>
          <a:blip r:embed="rId2"/>
          <a:stretch>
            <a:fillRect/>
          </a:stretch>
        </p:blipFill>
        <p:spPr>
          <a:xfrm>
            <a:off x="1192004" y="2393830"/>
            <a:ext cx="2295845" cy="3477110"/>
          </a:xfrm>
          <a:prstGeom prst="rect">
            <a:avLst/>
          </a:prstGeom>
        </p:spPr>
      </p:pic>
      <p:sp>
        <p:nvSpPr>
          <p:cNvPr id="5" name="Rectángulo 4"/>
          <p:cNvSpPr/>
          <p:nvPr/>
        </p:nvSpPr>
        <p:spPr>
          <a:xfrm>
            <a:off x="1192004" y="5559718"/>
            <a:ext cx="2295845" cy="3094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Tree>
    <p:extLst>
      <p:ext uri="{BB962C8B-B14F-4D97-AF65-F5344CB8AC3E}">
        <p14:creationId xmlns:p14="http://schemas.microsoft.com/office/powerpoint/2010/main" val="172556359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317</TotalTime>
  <Words>680</Words>
  <Application>Microsoft Office PowerPoint</Application>
  <PresentationFormat>Panorámica</PresentationFormat>
  <Paragraphs>51</Paragraphs>
  <Slides>17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Calibri Light</vt:lpstr>
      <vt:lpstr>Monserrat</vt:lpstr>
      <vt:lpstr>Tema de Office</vt:lpstr>
      <vt:lpstr>Presentación de PowerPoint</vt:lpstr>
      <vt:lpstr>Presentación de PowerPoint</vt:lpstr>
      <vt:lpstr>Seguridad de Aplicaciones Web y Apis basado en Vulnerabilidades OWASP Top 10:2025</vt:lpstr>
      <vt:lpstr>A10 Server-Side Request Forgery (SSRF)</vt:lpstr>
      <vt:lpstr>Descripción</vt:lpstr>
      <vt:lpstr>continuación</vt:lpstr>
      <vt:lpstr>continuación</vt:lpstr>
      <vt:lpstr>Vulnerabilidades</vt:lpstr>
      <vt:lpstr>Prevención</vt:lpstr>
      <vt:lpstr>continuación</vt:lpstr>
      <vt:lpstr>continuación</vt:lpstr>
      <vt:lpstr>continuación</vt:lpstr>
      <vt:lpstr>Escenarios</vt:lpstr>
      <vt:lpstr>Presentación de PowerPoint</vt:lpstr>
      <vt:lpstr>Presentación de PowerPoint</vt:lpstr>
      <vt:lpstr>Presentación de PowerPoint</vt:lpstr>
      <vt:lpstr>Laboratorio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Daddy</dc:creator>
  <cp:lastModifiedBy>ccarrenovi</cp:lastModifiedBy>
  <cp:revision>21</cp:revision>
  <dcterms:created xsi:type="dcterms:W3CDTF">2023-10-31T14:58:50Z</dcterms:created>
  <dcterms:modified xsi:type="dcterms:W3CDTF">2026-10-19T22:39:02Z</dcterms:modified>
</cp:coreProperties>
</file>