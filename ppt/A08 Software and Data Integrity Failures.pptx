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0" r:id="rId2"/>
    <p:sldId id="311" r:id="rId3"/>
    <p:sldId id="313" r:id="rId4"/>
    <p:sldId id="314" r:id="rId5"/>
    <p:sldId id="315" r:id="rId6"/>
    <p:sldId id="316" r:id="rId7"/>
    <p:sldId id="317" r:id="rId8"/>
    <p:sldId id="318" r:id="rId9"/>
    <p:sldId id="319" r:id="rId10"/>
    <p:sldId id="320" r:id="rId11"/>
    <p:sldId id="321" r:id="rId12"/>
    <p:sldId id="322" r:id="rId13"/>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C99"/>
    <a:srgbClr val="66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700"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dirty="0" smtClean="0"/>
              <a:t>Haga clic para modificar el estilo de título del patrón</a:t>
            </a:r>
            <a:endParaRPr lang="es-PE" dirty="0"/>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editar el estilo de subtítulo del patrón</a:t>
            </a:r>
            <a:endParaRPr lang="es-PE"/>
          </a:p>
        </p:txBody>
      </p:sp>
      <p:sp>
        <p:nvSpPr>
          <p:cNvPr id="4" name="Marcador de fecha 3"/>
          <p:cNvSpPr>
            <a:spLocks noGrp="1"/>
          </p:cNvSpPr>
          <p:nvPr>
            <p:ph type="dt" sz="half" idx="10"/>
          </p:nvPr>
        </p:nvSpPr>
        <p:spPr/>
        <p:txBody>
          <a:bodyPr/>
          <a:lstStyle/>
          <a:p>
            <a:fld id="{531C8478-8691-47AE-A71A-38912635015B}" type="datetimeFigureOut">
              <a:rPr lang="es-PE" smtClean="0"/>
              <a:t>19/10/2026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F99B91-E578-4989-98EC-F66D130D8317}" type="slidenum">
              <a:rPr lang="es-PE" smtClean="0"/>
              <a:t>‹Nº›</a:t>
            </a:fld>
            <a:endParaRPr lang="es-PE"/>
          </a:p>
        </p:txBody>
      </p:sp>
      <p:sp>
        <p:nvSpPr>
          <p:cNvPr id="8" name="CuadroTexto 7"/>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9" name="Imagen 8"/>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18639581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PE"/>
          </a:p>
        </p:txBody>
      </p:sp>
      <p:sp>
        <p:nvSpPr>
          <p:cNvPr id="3" name="Marcador de contenido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10"/>
          </p:nvPr>
        </p:nvSpPr>
        <p:spPr/>
        <p:txBody>
          <a:bodyPr/>
          <a:lstStyle/>
          <a:p>
            <a:fld id="{531C8478-8691-47AE-A71A-38912635015B}" type="datetimeFigureOut">
              <a:rPr lang="es-PE" smtClean="0"/>
              <a:t>19/10/2026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F99B91-E578-4989-98EC-F66D130D8317}" type="slidenum">
              <a:rPr lang="es-PE" smtClean="0"/>
              <a:t>‹Nº›</a:t>
            </a:fld>
            <a:endParaRPr lang="es-PE"/>
          </a:p>
        </p:txBody>
      </p:sp>
      <p:sp>
        <p:nvSpPr>
          <p:cNvPr id="8" name="CuadroTexto 7"/>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9" name="Imagen 8"/>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18599301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s-PE"/>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Editar el estilo de texto del patrón</a:t>
            </a:r>
          </a:p>
        </p:txBody>
      </p:sp>
      <p:sp>
        <p:nvSpPr>
          <p:cNvPr id="4" name="Marcador de fecha 3"/>
          <p:cNvSpPr>
            <a:spLocks noGrp="1"/>
          </p:cNvSpPr>
          <p:nvPr>
            <p:ph type="dt" sz="half" idx="10"/>
          </p:nvPr>
        </p:nvSpPr>
        <p:spPr/>
        <p:txBody>
          <a:bodyPr/>
          <a:lstStyle/>
          <a:p>
            <a:fld id="{531C8478-8691-47AE-A71A-38912635015B}" type="datetimeFigureOut">
              <a:rPr lang="es-PE" smtClean="0"/>
              <a:t>19/10/2026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F99B91-E578-4989-98EC-F66D130D8317}" type="slidenum">
              <a:rPr lang="es-PE" smtClean="0"/>
              <a:t>‹Nº›</a:t>
            </a:fld>
            <a:endParaRPr lang="es-PE"/>
          </a:p>
        </p:txBody>
      </p:sp>
      <p:sp>
        <p:nvSpPr>
          <p:cNvPr id="8" name="CuadroTexto 7"/>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9" name="Imagen 8"/>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2053996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Haga clic para modificar el estilo de título del patrón</a:t>
            </a:r>
            <a:endParaRPr lang="es-PE" dirty="0"/>
          </a:p>
        </p:txBody>
      </p:sp>
      <p:sp>
        <p:nvSpPr>
          <p:cNvPr id="3" name="Marcador de contenido 2"/>
          <p:cNvSpPr>
            <a:spLocks noGrp="1"/>
          </p:cNvSpPr>
          <p:nvPr>
            <p:ph sz="half" idx="1"/>
          </p:nvPr>
        </p:nvSpPr>
        <p:spPr>
          <a:xfrm>
            <a:off x="838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contenido 3"/>
          <p:cNvSpPr>
            <a:spLocks noGrp="1"/>
          </p:cNvSpPr>
          <p:nvPr>
            <p:ph sz="half" idx="2"/>
          </p:nvPr>
        </p:nvSpPr>
        <p:spPr>
          <a:xfrm>
            <a:off x="6172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5" name="Marcador de fecha 4"/>
          <p:cNvSpPr>
            <a:spLocks noGrp="1"/>
          </p:cNvSpPr>
          <p:nvPr>
            <p:ph type="dt" sz="half" idx="10"/>
          </p:nvPr>
        </p:nvSpPr>
        <p:spPr/>
        <p:txBody>
          <a:bodyPr/>
          <a:lstStyle/>
          <a:p>
            <a:fld id="{531C8478-8691-47AE-A71A-38912635015B}" type="datetimeFigureOut">
              <a:rPr lang="es-PE" smtClean="0"/>
              <a:t>19/10/2026</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6EF99B91-E578-4989-98EC-F66D130D8317}" type="slidenum">
              <a:rPr lang="es-PE" smtClean="0"/>
              <a:t>‹Nº›</a:t>
            </a:fld>
            <a:endParaRPr lang="es-PE"/>
          </a:p>
        </p:txBody>
      </p:sp>
      <p:sp>
        <p:nvSpPr>
          <p:cNvPr id="9" name="CuadroTexto 8"/>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10" name="Imagen 9"/>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2368732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s-PE"/>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7" name="Marcador de fecha 6"/>
          <p:cNvSpPr>
            <a:spLocks noGrp="1"/>
          </p:cNvSpPr>
          <p:nvPr>
            <p:ph type="dt" sz="half" idx="10"/>
          </p:nvPr>
        </p:nvSpPr>
        <p:spPr/>
        <p:txBody>
          <a:bodyPr/>
          <a:lstStyle/>
          <a:p>
            <a:fld id="{531C8478-8691-47AE-A71A-38912635015B}" type="datetimeFigureOut">
              <a:rPr lang="es-PE" smtClean="0"/>
              <a:t>19/10/2026</a:t>
            </a:fld>
            <a:endParaRPr lang="es-PE"/>
          </a:p>
        </p:txBody>
      </p:sp>
      <p:sp>
        <p:nvSpPr>
          <p:cNvPr id="8" name="Marcador de pie de página 7"/>
          <p:cNvSpPr>
            <a:spLocks noGrp="1"/>
          </p:cNvSpPr>
          <p:nvPr>
            <p:ph type="ftr" sz="quarter" idx="11"/>
          </p:nvPr>
        </p:nvSpPr>
        <p:spPr/>
        <p:txBody>
          <a:bodyPr/>
          <a:lstStyle/>
          <a:p>
            <a:endParaRPr lang="es-PE"/>
          </a:p>
        </p:txBody>
      </p:sp>
      <p:sp>
        <p:nvSpPr>
          <p:cNvPr id="9" name="Marcador de número de diapositiva 8"/>
          <p:cNvSpPr>
            <a:spLocks noGrp="1"/>
          </p:cNvSpPr>
          <p:nvPr>
            <p:ph type="sldNum" sz="quarter" idx="12"/>
          </p:nvPr>
        </p:nvSpPr>
        <p:spPr/>
        <p:txBody>
          <a:bodyPr/>
          <a:lstStyle/>
          <a:p>
            <a:fld id="{6EF99B91-E578-4989-98EC-F66D130D8317}" type="slidenum">
              <a:rPr lang="es-PE" smtClean="0"/>
              <a:t>‹Nº›</a:t>
            </a:fld>
            <a:endParaRPr lang="es-PE"/>
          </a:p>
        </p:txBody>
      </p:sp>
      <p:sp>
        <p:nvSpPr>
          <p:cNvPr id="11" name="CuadroTexto 10"/>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12" name="Imagen 11"/>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15113842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PE"/>
          </a:p>
        </p:txBody>
      </p:sp>
      <p:sp>
        <p:nvSpPr>
          <p:cNvPr id="3" name="Marcador de fecha 2"/>
          <p:cNvSpPr>
            <a:spLocks noGrp="1"/>
          </p:cNvSpPr>
          <p:nvPr>
            <p:ph type="dt" sz="half" idx="10"/>
          </p:nvPr>
        </p:nvSpPr>
        <p:spPr/>
        <p:txBody>
          <a:bodyPr/>
          <a:lstStyle/>
          <a:p>
            <a:fld id="{531C8478-8691-47AE-A71A-38912635015B}" type="datetimeFigureOut">
              <a:rPr lang="es-PE" smtClean="0"/>
              <a:t>19/10/2026</a:t>
            </a:fld>
            <a:endParaRPr lang="es-PE"/>
          </a:p>
        </p:txBody>
      </p:sp>
      <p:sp>
        <p:nvSpPr>
          <p:cNvPr id="4" name="Marcador de pie de página 3"/>
          <p:cNvSpPr>
            <a:spLocks noGrp="1"/>
          </p:cNvSpPr>
          <p:nvPr>
            <p:ph type="ftr" sz="quarter" idx="11"/>
          </p:nvPr>
        </p:nvSpPr>
        <p:spPr/>
        <p:txBody>
          <a:bodyPr/>
          <a:lstStyle/>
          <a:p>
            <a:endParaRPr lang="es-PE"/>
          </a:p>
        </p:txBody>
      </p:sp>
      <p:sp>
        <p:nvSpPr>
          <p:cNvPr id="5" name="Marcador de número de diapositiva 4"/>
          <p:cNvSpPr>
            <a:spLocks noGrp="1"/>
          </p:cNvSpPr>
          <p:nvPr>
            <p:ph type="sldNum" sz="quarter" idx="12"/>
          </p:nvPr>
        </p:nvSpPr>
        <p:spPr/>
        <p:txBody>
          <a:bodyPr/>
          <a:lstStyle/>
          <a:p>
            <a:fld id="{6EF99B91-E578-4989-98EC-F66D130D8317}" type="slidenum">
              <a:rPr lang="es-PE" smtClean="0"/>
              <a:t>‹Nº›</a:t>
            </a:fld>
            <a:endParaRPr lang="es-PE"/>
          </a:p>
        </p:txBody>
      </p:sp>
      <p:sp>
        <p:nvSpPr>
          <p:cNvPr id="7" name="CuadroTexto 6"/>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8" name="Imagen 7"/>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23509672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531C8478-8691-47AE-A71A-38912635015B}" type="datetimeFigureOut">
              <a:rPr lang="es-PE" smtClean="0"/>
              <a:t>19/10/2026</a:t>
            </a:fld>
            <a:endParaRPr lang="es-PE"/>
          </a:p>
        </p:txBody>
      </p:sp>
      <p:sp>
        <p:nvSpPr>
          <p:cNvPr id="3" name="Marcador de pie de página 2"/>
          <p:cNvSpPr>
            <a:spLocks noGrp="1"/>
          </p:cNvSpPr>
          <p:nvPr>
            <p:ph type="ftr" sz="quarter" idx="11"/>
          </p:nvPr>
        </p:nvSpPr>
        <p:spPr/>
        <p:txBody>
          <a:bodyPr/>
          <a:lstStyle/>
          <a:p>
            <a:endParaRPr lang="es-PE"/>
          </a:p>
        </p:txBody>
      </p:sp>
      <p:sp>
        <p:nvSpPr>
          <p:cNvPr id="4" name="Marcador de número de diapositiva 3"/>
          <p:cNvSpPr>
            <a:spLocks noGrp="1"/>
          </p:cNvSpPr>
          <p:nvPr>
            <p:ph type="sldNum" sz="quarter" idx="12"/>
          </p:nvPr>
        </p:nvSpPr>
        <p:spPr/>
        <p:txBody>
          <a:bodyPr/>
          <a:lstStyle/>
          <a:p>
            <a:fld id="{6EF99B91-E578-4989-98EC-F66D130D8317}" type="slidenum">
              <a:rPr lang="es-PE" smtClean="0"/>
              <a:t>‹Nº›</a:t>
            </a:fld>
            <a:endParaRPr lang="es-PE"/>
          </a:p>
        </p:txBody>
      </p:sp>
      <p:sp>
        <p:nvSpPr>
          <p:cNvPr id="5" name="CuadroTexto 4"/>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30705097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PE"/>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531C8478-8691-47AE-A71A-38912635015B}" type="datetimeFigureOut">
              <a:rPr lang="es-PE" smtClean="0"/>
              <a:t>19/10/2026</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6EF99B91-E578-4989-98EC-F66D130D8317}" type="slidenum">
              <a:rPr lang="es-PE" smtClean="0"/>
              <a:t>‹Nº›</a:t>
            </a:fld>
            <a:endParaRPr lang="es-PE"/>
          </a:p>
        </p:txBody>
      </p:sp>
      <p:sp>
        <p:nvSpPr>
          <p:cNvPr id="8" name="CuadroTexto 7"/>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1440120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PE"/>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531C8478-8691-47AE-A71A-38912635015B}" type="datetimeFigureOut">
              <a:rPr lang="es-PE" smtClean="0"/>
              <a:t>19/10/2026</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6EF99B91-E578-4989-98EC-F66D130D8317}" type="slidenum">
              <a:rPr lang="es-PE" smtClean="0"/>
              <a:t>‹Nº›</a:t>
            </a:fld>
            <a:endParaRPr lang="es-PE"/>
          </a:p>
        </p:txBody>
      </p:sp>
      <p:sp>
        <p:nvSpPr>
          <p:cNvPr id="8" name="CuadroTexto 7"/>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7313329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PE"/>
          </a:p>
        </p:txBody>
      </p:sp>
      <p:sp>
        <p:nvSpPr>
          <p:cNvPr id="3" name="Marcador de texto vertical 2"/>
          <p:cNvSpPr>
            <a:spLocks noGrp="1"/>
          </p:cNvSpPr>
          <p:nvPr>
            <p:ph type="body" orient="vert" idx="1"/>
          </p:nvPr>
        </p:nvSpPr>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10"/>
          </p:nvPr>
        </p:nvSpPr>
        <p:spPr/>
        <p:txBody>
          <a:bodyPr/>
          <a:lstStyle/>
          <a:p>
            <a:fld id="{531C8478-8691-47AE-A71A-38912635015B}" type="datetimeFigureOut">
              <a:rPr lang="es-PE" smtClean="0"/>
              <a:t>19/10/2026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F99B91-E578-4989-98EC-F66D130D8317}" type="slidenum">
              <a:rPr lang="es-PE" smtClean="0"/>
              <a:t>‹Nº›</a:t>
            </a:fld>
            <a:endParaRPr lang="es-PE"/>
          </a:p>
        </p:txBody>
      </p:sp>
      <p:sp>
        <p:nvSpPr>
          <p:cNvPr id="7" name="CuadroTexto 6"/>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24043103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s-PE"/>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10"/>
          </p:nvPr>
        </p:nvSpPr>
        <p:spPr/>
        <p:txBody>
          <a:bodyPr/>
          <a:lstStyle/>
          <a:p>
            <a:fld id="{531C8478-8691-47AE-A71A-38912635015B}" type="datetimeFigureOut">
              <a:rPr lang="es-PE" smtClean="0"/>
              <a:t>19/10/2026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F99B91-E578-4989-98EC-F66D130D8317}" type="slidenum">
              <a:rPr lang="es-PE" smtClean="0"/>
              <a:t>‹Nº›</a:t>
            </a:fld>
            <a:endParaRPr lang="es-PE"/>
          </a:p>
        </p:txBody>
      </p:sp>
      <p:sp>
        <p:nvSpPr>
          <p:cNvPr id="7" name="CuadroTexto 6"/>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27899254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Title Slide">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F81C7DB2-ECDB-A37C-F439-982980FF00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2" y="429"/>
            <a:ext cx="12190476" cy="6857143"/>
          </a:xfrm>
          <a:prstGeom prst="rect">
            <a:avLst/>
          </a:prstGeom>
        </p:spPr>
      </p:pic>
    </p:spTree>
    <p:extLst>
      <p:ext uri="{BB962C8B-B14F-4D97-AF65-F5344CB8AC3E}">
        <p14:creationId xmlns:p14="http://schemas.microsoft.com/office/powerpoint/2010/main" val="11013606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Title and Content">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0C1FCB36-12BC-C02E-4036-86F246ECFE5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2" y="429"/>
            <a:ext cx="12190476" cy="6857143"/>
          </a:xfrm>
          <a:prstGeom prst="rect">
            <a:avLst/>
          </a:prstGeom>
        </p:spPr>
      </p:pic>
    </p:spTree>
    <p:extLst>
      <p:ext uri="{BB962C8B-B14F-4D97-AF65-F5344CB8AC3E}">
        <p14:creationId xmlns:p14="http://schemas.microsoft.com/office/powerpoint/2010/main" val="29311652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9786937" cy="1325563"/>
          </a:xfrm>
          <a:prstGeom prst="rect">
            <a:avLst/>
          </a:prstGeom>
        </p:spPr>
        <p:txBody>
          <a:bodyPr vert="horz" lIns="91440" tIns="45720" rIns="91440" bIns="45720" rtlCol="0" anchor="ctr">
            <a:normAutofit/>
          </a:bodyPr>
          <a:lstStyle/>
          <a:p>
            <a:r>
              <a:rPr lang="es-ES" dirty="0" smtClean="0"/>
              <a:t>Haga clic para modificar el estilo de título del patrón</a:t>
            </a:r>
            <a:endParaRPr lang="es-PE" dirty="0"/>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1C8478-8691-47AE-A71A-38912635015B}" type="datetimeFigureOut">
              <a:rPr lang="es-PE" smtClean="0"/>
              <a:t>19/10/2026</a:t>
            </a:fld>
            <a:endParaRPr lang="es-PE"/>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PE"/>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F99B91-E578-4989-98EC-F66D130D8317}" type="slidenum">
              <a:rPr lang="es-PE" smtClean="0"/>
              <a:t>‹Nº›</a:t>
            </a:fld>
            <a:endParaRPr lang="es-PE"/>
          </a:p>
        </p:txBody>
      </p:sp>
      <p:pic>
        <p:nvPicPr>
          <p:cNvPr id="8" name="Imagen 7"/>
          <p:cNvPicPr>
            <a:picLocks noChangeAspect="1"/>
          </p:cNvPicPr>
          <p:nvPr userDrawn="1"/>
        </p:nvPicPr>
        <p:blipFill>
          <a:blip r:embed="rId15"/>
          <a:stretch>
            <a:fillRect/>
          </a:stretch>
        </p:blipFill>
        <p:spPr>
          <a:xfrm>
            <a:off x="10625137" y="185738"/>
            <a:ext cx="1457325" cy="752475"/>
          </a:xfrm>
          <a:prstGeom prst="rect">
            <a:avLst/>
          </a:prstGeom>
        </p:spPr>
      </p:pic>
      <p:pic>
        <p:nvPicPr>
          <p:cNvPr id="9" name="Imagen 8"/>
          <p:cNvPicPr>
            <a:picLocks noChangeAspect="1"/>
          </p:cNvPicPr>
          <p:nvPr userDrawn="1"/>
        </p:nvPicPr>
        <p:blipFill>
          <a:blip r:embed="rId16"/>
          <a:stretch>
            <a:fillRect/>
          </a:stretch>
        </p:blipFill>
        <p:spPr>
          <a:xfrm>
            <a:off x="0" y="6311900"/>
            <a:ext cx="12192000" cy="576656"/>
          </a:xfrm>
          <a:prstGeom prst="rect">
            <a:avLst/>
          </a:prstGeom>
        </p:spPr>
      </p:pic>
    </p:spTree>
    <p:extLst>
      <p:ext uri="{BB962C8B-B14F-4D97-AF65-F5344CB8AC3E}">
        <p14:creationId xmlns:p14="http://schemas.microsoft.com/office/powerpoint/2010/main" val="33563220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b="1" kern="1200">
          <a:solidFill>
            <a:srgbClr val="00CC99"/>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7396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90646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3E200F1E-B117-90BE-B61B-8703C703EEC7}"/>
              </a:ext>
            </a:extLst>
          </p:cNvPr>
          <p:cNvSpPr>
            <a:spLocks noGrp="1"/>
          </p:cNvSpPr>
          <p:nvPr>
            <p:ph type="title"/>
          </p:nvPr>
        </p:nvSpPr>
        <p:spPr>
          <a:xfrm>
            <a:off x="812800" y="1701800"/>
            <a:ext cx="10261600" cy="1981200"/>
          </a:xfrm>
        </p:spPr>
        <p:txBody>
          <a:bodyPr/>
          <a:lstStyle/>
          <a:p>
            <a:pPr algn="ctr"/>
            <a:r>
              <a:rPr lang="es-PE" b="1" dirty="0" smtClean="0">
                <a:solidFill>
                  <a:srgbClr val="00CC99"/>
                </a:solidFill>
                <a:latin typeface="Monserrat"/>
              </a:rPr>
              <a:t>Seguridad de Aplicaciones Web y Apis basado en Vulnerabilidades OWASP Top 10:2025</a:t>
            </a:r>
            <a:endParaRPr lang="es-PE" b="1" dirty="0">
              <a:solidFill>
                <a:srgbClr val="00CC99"/>
              </a:solidFill>
              <a:latin typeface="Monserrat"/>
            </a:endParaRPr>
          </a:p>
        </p:txBody>
      </p:sp>
      <p:sp>
        <p:nvSpPr>
          <p:cNvPr id="7" name="Marcador de texto 2">
            <a:extLst>
              <a:ext uri="{FF2B5EF4-FFF2-40B4-BE49-F238E27FC236}">
                <a16:creationId xmlns:a16="http://schemas.microsoft.com/office/drawing/2014/main" id="{7F8D9756-A8D6-72FB-C028-ECCC347FC3E7}"/>
              </a:ext>
            </a:extLst>
          </p:cNvPr>
          <p:cNvSpPr txBox="1">
            <a:spLocks/>
          </p:cNvSpPr>
          <p:nvPr/>
        </p:nvSpPr>
        <p:spPr>
          <a:xfrm>
            <a:off x="3209600" y="3835400"/>
            <a:ext cx="5680400" cy="331070"/>
          </a:xfrm>
          <a:prstGeom prst="rect">
            <a:avLst/>
          </a:prstGeom>
        </p:spPr>
        <p:txBody>
          <a:bodyPr>
            <a:normAutofit fontScale="92500" lnSpcReduction="10000"/>
          </a:bodyPr>
          <a:lstStyle>
            <a:lvl1pPr marL="342900" indent="-342900" algn="l" defTabSz="914400" rtl="0" eaLnBrk="1" latinLnBrk="0" hangingPunct="1">
              <a:spcBef>
                <a:spcPct val="20000"/>
              </a:spcBef>
              <a:buFont typeface="Arial" pitchFamily="34" charset="0"/>
              <a:buChar char="•"/>
              <a:defRPr sz="2800" b="0" u="none"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76204" indent="0" algn="ctr">
              <a:buNone/>
            </a:pPr>
            <a:r>
              <a:rPr lang="es-PE" sz="1867" dirty="0"/>
              <a:t>Instructor: Carlos Carreño</a:t>
            </a:r>
          </a:p>
        </p:txBody>
      </p:sp>
    </p:spTree>
    <p:extLst>
      <p:ext uri="{BB962C8B-B14F-4D97-AF65-F5344CB8AC3E}">
        <p14:creationId xmlns:p14="http://schemas.microsoft.com/office/powerpoint/2010/main" val="1496636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A08 </a:t>
            </a:r>
            <a:r>
              <a:rPr lang="en-US" dirty="0"/>
              <a:t>Software and Data Integrity </a:t>
            </a:r>
            <a:r>
              <a:rPr lang="en-US" dirty="0" smtClean="0"/>
              <a:t>Failures</a:t>
            </a:r>
            <a:endParaRPr lang="en-US" dirty="0"/>
          </a:p>
        </p:txBody>
      </p:sp>
      <p:sp>
        <p:nvSpPr>
          <p:cNvPr id="3" name="Marcador de contenido 2"/>
          <p:cNvSpPr>
            <a:spLocks noGrp="1"/>
          </p:cNvSpPr>
          <p:nvPr>
            <p:ph idx="1"/>
          </p:nvPr>
        </p:nvSpPr>
        <p:spPr/>
        <p:txBody>
          <a:bodyPr>
            <a:normAutofit/>
          </a:bodyPr>
          <a:lstStyle/>
          <a:p>
            <a:r>
              <a:rPr lang="es-MX" dirty="0" smtClean="0"/>
              <a:t>Descripción</a:t>
            </a:r>
          </a:p>
          <a:p>
            <a:r>
              <a:rPr lang="es-MX" dirty="0" smtClean="0"/>
              <a:t>Vulnerabilidades</a:t>
            </a:r>
          </a:p>
          <a:p>
            <a:r>
              <a:rPr lang="es-MX" dirty="0" smtClean="0"/>
              <a:t>Prevención</a:t>
            </a:r>
          </a:p>
          <a:p>
            <a:r>
              <a:rPr lang="es-MX" dirty="0" smtClean="0"/>
              <a:t>Escenarios</a:t>
            </a:r>
          </a:p>
          <a:p>
            <a:r>
              <a:rPr lang="es-MX" dirty="0" smtClean="0"/>
              <a:t>Laboratorio</a:t>
            </a:r>
            <a:endParaRPr lang="en-US" dirty="0"/>
          </a:p>
        </p:txBody>
      </p:sp>
    </p:spTree>
    <p:extLst>
      <p:ext uri="{BB962C8B-B14F-4D97-AF65-F5344CB8AC3E}">
        <p14:creationId xmlns:p14="http://schemas.microsoft.com/office/powerpoint/2010/main" val="12805405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Descripción</a:t>
            </a:r>
            <a:endParaRPr lang="es-PE" dirty="0"/>
          </a:p>
        </p:txBody>
      </p:sp>
      <p:sp>
        <p:nvSpPr>
          <p:cNvPr id="3" name="Marcador de contenido 2"/>
          <p:cNvSpPr>
            <a:spLocks noGrp="1"/>
          </p:cNvSpPr>
          <p:nvPr>
            <p:ph idx="1"/>
          </p:nvPr>
        </p:nvSpPr>
        <p:spPr/>
        <p:txBody>
          <a:bodyPr/>
          <a:lstStyle/>
          <a:p>
            <a:r>
              <a:rPr lang="es-MX" dirty="0"/>
              <a:t>Las fallas de integridad del software y de los datos ocurren cuando un atacante puede modificar o eliminar datos de manera no autorizada. Esto puede suceder debido a vulnerabilidades en el software o malas prácticas de codificación. Los atacantes pueden aprovechar estas vulnerabilidades para obtener acceso a información confidencial o causar daños al sistema.</a:t>
            </a:r>
            <a:endParaRPr lang="es-PE" dirty="0"/>
          </a:p>
        </p:txBody>
      </p:sp>
    </p:spTree>
    <p:extLst>
      <p:ext uri="{BB962C8B-B14F-4D97-AF65-F5344CB8AC3E}">
        <p14:creationId xmlns:p14="http://schemas.microsoft.com/office/powerpoint/2010/main" val="5454813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Vulnerabilidades</a:t>
            </a:r>
            <a:endParaRPr lang="es-PE" dirty="0"/>
          </a:p>
        </p:txBody>
      </p:sp>
      <p:sp>
        <p:nvSpPr>
          <p:cNvPr id="3" name="Marcador de contenido 2"/>
          <p:cNvSpPr>
            <a:spLocks noGrp="1"/>
          </p:cNvSpPr>
          <p:nvPr>
            <p:ph idx="1"/>
          </p:nvPr>
        </p:nvSpPr>
        <p:spPr/>
        <p:txBody>
          <a:bodyPr>
            <a:normAutofit fontScale="85000" lnSpcReduction="20000"/>
          </a:bodyPr>
          <a:lstStyle/>
          <a:p>
            <a:r>
              <a:rPr lang="es-MX" dirty="0"/>
              <a:t>Los fallos de integridad del software y de los datos están relacionados con código e infraestructura no protegidos contra alteraciones (integridad</a:t>
            </a:r>
            <a:r>
              <a:rPr lang="es-MX" dirty="0" smtClean="0"/>
              <a:t>).</a:t>
            </a:r>
          </a:p>
          <a:p>
            <a:r>
              <a:rPr lang="es-MX" dirty="0" smtClean="0"/>
              <a:t> </a:t>
            </a:r>
            <a:r>
              <a:rPr lang="es-MX" dirty="0"/>
              <a:t>Ejemplos de esto son cuando una aplicación depende de plugins, bibliotecas o módulos de fuentes, repositorios o redes de entrega de contenidos (CDN) no confiables. </a:t>
            </a:r>
            <a:endParaRPr lang="es-MX" dirty="0" smtClean="0"/>
          </a:p>
          <a:p>
            <a:r>
              <a:rPr lang="es-MX" dirty="0" smtClean="0"/>
              <a:t>Un </a:t>
            </a:r>
            <a:r>
              <a:rPr lang="es-MX" dirty="0"/>
              <a:t>pipeline CI/CD inseguro puede conducir a accesos no autorizados, la inclusión de código malicioso o el compromiso del sistema en general. Además, es común en la actualidad que las aplicaciones implementen funcionalidades de actualización, a través de las cuales se descargan nuevas versiones de la misma sin las debidas verificaciones integridad que fueron realizadas previamente al instalar la aplicación</a:t>
            </a:r>
            <a:r>
              <a:rPr lang="es-MX" dirty="0" smtClean="0"/>
              <a:t>.</a:t>
            </a:r>
          </a:p>
          <a:p>
            <a:r>
              <a:rPr lang="es-MX" dirty="0" smtClean="0"/>
              <a:t> </a:t>
            </a:r>
            <a:r>
              <a:rPr lang="es-MX" dirty="0"/>
              <a:t>Los atacantes potencialmente pueden cargar sus propias actualizaciones para que sean distribuidas y ejecutadas en todas las instalaciones. Otro ejemplo es cuando objetos o datos son codificados o serializados en estructuras que un atacante puede ver y modificar, produciéndose una deserialización insegura.</a:t>
            </a:r>
            <a:endParaRPr lang="es-PE" dirty="0"/>
          </a:p>
        </p:txBody>
      </p:sp>
    </p:spTree>
    <p:extLst>
      <p:ext uri="{BB962C8B-B14F-4D97-AF65-F5344CB8AC3E}">
        <p14:creationId xmlns:p14="http://schemas.microsoft.com/office/powerpoint/2010/main" val="32787113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Prevención</a:t>
            </a:r>
            <a:endParaRPr lang="es-PE" dirty="0"/>
          </a:p>
        </p:txBody>
      </p:sp>
      <p:sp>
        <p:nvSpPr>
          <p:cNvPr id="3" name="Marcador de contenido 2"/>
          <p:cNvSpPr>
            <a:spLocks noGrp="1"/>
          </p:cNvSpPr>
          <p:nvPr>
            <p:ph idx="1"/>
          </p:nvPr>
        </p:nvSpPr>
        <p:spPr/>
        <p:txBody>
          <a:bodyPr/>
          <a:lstStyle/>
          <a:p>
            <a:r>
              <a:rPr lang="es-MX" dirty="0"/>
              <a:t>Utilice firmas digitales o mecanismos similares para verificar que el software o datos provienen efectivamente de la fuente esperada y no fueron alterados.</a:t>
            </a:r>
          </a:p>
          <a:p>
            <a:r>
              <a:rPr lang="es-MX" dirty="0"/>
              <a:t>Asegúrese que las bibliotecas y dependencias, tales como </a:t>
            </a:r>
            <a:r>
              <a:rPr lang="es-MX" dirty="0" err="1"/>
              <a:t>npm</a:t>
            </a:r>
            <a:r>
              <a:rPr lang="es-MX" dirty="0"/>
              <a:t> o </a:t>
            </a:r>
            <a:r>
              <a:rPr lang="es-MX" dirty="0" err="1"/>
              <a:t>maven</a:t>
            </a:r>
            <a:r>
              <a:rPr lang="es-MX" dirty="0"/>
              <a:t> son utilizadas desde repositorios confiables. Si su perfil de riesgo es alto, considere alojarlas en un repositorio interno cuyo contenido ha sido previamente analizado.</a:t>
            </a:r>
          </a:p>
          <a:p>
            <a:r>
              <a:rPr lang="es-MX" dirty="0"/>
              <a:t>Asegúrese que se utilice una herramienta de análisis de componentes de terceros, cómo OWASP </a:t>
            </a:r>
            <a:r>
              <a:rPr lang="es-MX" dirty="0" err="1"/>
              <a:t>Dependency</a:t>
            </a:r>
            <a:r>
              <a:rPr lang="es-MX" dirty="0"/>
              <a:t> </a:t>
            </a:r>
            <a:r>
              <a:rPr lang="es-MX" dirty="0" err="1"/>
              <a:t>Check</a:t>
            </a:r>
            <a:r>
              <a:rPr lang="es-MX" dirty="0"/>
              <a:t> u OWASP </a:t>
            </a:r>
            <a:r>
              <a:rPr lang="es-MX" dirty="0" err="1"/>
              <a:t>CycloneDX</a:t>
            </a:r>
            <a:r>
              <a:rPr lang="es-MX" dirty="0"/>
              <a:t>, con el fin de verificar la ausencia de vulnerabilidades conocidas.</a:t>
            </a:r>
          </a:p>
          <a:p>
            <a:endParaRPr lang="es-PE" dirty="0"/>
          </a:p>
        </p:txBody>
      </p:sp>
    </p:spTree>
    <p:extLst>
      <p:ext uri="{BB962C8B-B14F-4D97-AF65-F5344CB8AC3E}">
        <p14:creationId xmlns:p14="http://schemas.microsoft.com/office/powerpoint/2010/main" val="38205411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PE"/>
          </a:p>
        </p:txBody>
      </p:sp>
      <p:sp>
        <p:nvSpPr>
          <p:cNvPr id="3" name="Marcador de contenido 2"/>
          <p:cNvSpPr>
            <a:spLocks noGrp="1"/>
          </p:cNvSpPr>
          <p:nvPr>
            <p:ph idx="1"/>
          </p:nvPr>
        </p:nvSpPr>
        <p:spPr/>
        <p:txBody>
          <a:bodyPr/>
          <a:lstStyle/>
          <a:p>
            <a:r>
              <a:rPr lang="es-MX" dirty="0"/>
              <a:t>Asegúrese que se utilice un proceso de revisión de cambios de código y configuraciones para minimizar las posibilidades de que código o configuraciones maliciosas sean introducidos en su pipeline.</a:t>
            </a:r>
          </a:p>
          <a:p>
            <a:r>
              <a:rPr lang="es-MX" dirty="0"/>
              <a:t>Asegúrese que su pipeline CI/CD posee adecuados controles de acceso, segregación y configuraciones que permitan asegurar la integridad del código a través del proceso de build y despliegue.</a:t>
            </a:r>
          </a:p>
          <a:p>
            <a:r>
              <a:rPr lang="es-MX" dirty="0"/>
              <a:t>Asegúrese que datos sin cifrar o firmar no son enviados a clientes no confiables sin alguna forma de verificación de integridad o firma electrónica con el fin de detectar modificaciones o la reutilización de datos previamente serializados.</a:t>
            </a:r>
          </a:p>
          <a:p>
            <a:endParaRPr lang="es-PE" dirty="0"/>
          </a:p>
        </p:txBody>
      </p:sp>
    </p:spTree>
    <p:extLst>
      <p:ext uri="{BB962C8B-B14F-4D97-AF65-F5344CB8AC3E}">
        <p14:creationId xmlns:p14="http://schemas.microsoft.com/office/powerpoint/2010/main" val="21234712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Escenarios</a:t>
            </a:r>
            <a:endParaRPr lang="es-PE" dirty="0"/>
          </a:p>
        </p:txBody>
      </p:sp>
      <p:sp>
        <p:nvSpPr>
          <p:cNvPr id="3" name="Marcador de contenido 2"/>
          <p:cNvSpPr>
            <a:spLocks noGrp="1"/>
          </p:cNvSpPr>
          <p:nvPr>
            <p:ph idx="1"/>
          </p:nvPr>
        </p:nvSpPr>
        <p:spPr/>
        <p:txBody>
          <a:bodyPr/>
          <a:lstStyle/>
          <a:p>
            <a:r>
              <a:rPr lang="es-MX" b="1" dirty="0"/>
              <a:t>Escenario #1 Actualizaciones no firmadas:</a:t>
            </a:r>
            <a:r>
              <a:rPr lang="es-MX" dirty="0"/>
              <a:t> Muchos routers domésticos, decodificadores de televisión, firmware de dispositivos, entre otros, no verifican las firmas de sus actualizaciones de firmware. El firmware sin firmar es un objetivo creciente para los atacantes y se espera que empeore. Esto es una gran preocupación, ya que muchas veces no existe otro mecanismo para remediarlo que corregirlo en una versión futura y esperar a que las versiones anteriores caduquen.</a:t>
            </a:r>
            <a:endParaRPr lang="es-PE" dirty="0"/>
          </a:p>
        </p:txBody>
      </p:sp>
    </p:spTree>
    <p:extLst>
      <p:ext uri="{BB962C8B-B14F-4D97-AF65-F5344CB8AC3E}">
        <p14:creationId xmlns:p14="http://schemas.microsoft.com/office/powerpoint/2010/main" val="27939363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continuación</a:t>
            </a:r>
            <a:endParaRPr lang="es-PE" dirty="0"/>
          </a:p>
        </p:txBody>
      </p:sp>
      <p:sp>
        <p:nvSpPr>
          <p:cNvPr id="3" name="Marcador de contenido 2"/>
          <p:cNvSpPr>
            <a:spLocks noGrp="1"/>
          </p:cNvSpPr>
          <p:nvPr>
            <p:ph idx="1"/>
          </p:nvPr>
        </p:nvSpPr>
        <p:spPr/>
        <p:txBody>
          <a:bodyPr/>
          <a:lstStyle/>
          <a:p>
            <a:r>
              <a:rPr lang="es-MX" b="1" dirty="0"/>
              <a:t>Escenario #2 Actualización maliciosa de </a:t>
            </a:r>
            <a:r>
              <a:rPr lang="es-MX" b="1" dirty="0" err="1"/>
              <a:t>SolarWinds</a:t>
            </a:r>
            <a:r>
              <a:rPr lang="es-MX" b="1" dirty="0"/>
              <a:t>:</a:t>
            </a:r>
            <a:r>
              <a:rPr lang="es-MX" dirty="0"/>
              <a:t> Se sabe que los Estados-Naciones utilizan como vector de ataque los mecanismos de actualización, siendo un caso reciente de pública notoriedad el sufrido por </a:t>
            </a:r>
            <a:r>
              <a:rPr lang="es-MX" dirty="0" err="1"/>
              <a:t>SolarWinds</a:t>
            </a:r>
            <a:r>
              <a:rPr lang="es-MX" dirty="0"/>
              <a:t> </a:t>
            </a:r>
            <a:r>
              <a:rPr lang="es-MX" dirty="0" err="1"/>
              <a:t>Orion</a:t>
            </a:r>
            <a:r>
              <a:rPr lang="es-MX" dirty="0"/>
              <a:t>. La compañía que desarrolla el software poseía procesos seguros de construcción y mecanismos de integridad en sus actualizaciones. Sin embargo, estos fueron comprometidos y, durante varios meses, la firma distribuyó una actualización maliciosa a más de 18.000 organizaciones, de las cuales alrededor de un centenar se vieron afectadas. Se trata de una de las brechas de este tipo de mayor alcance y más importantes de la historia.</a:t>
            </a:r>
            <a:endParaRPr lang="es-PE" dirty="0"/>
          </a:p>
        </p:txBody>
      </p:sp>
    </p:spTree>
    <p:extLst>
      <p:ext uri="{BB962C8B-B14F-4D97-AF65-F5344CB8AC3E}">
        <p14:creationId xmlns:p14="http://schemas.microsoft.com/office/powerpoint/2010/main" val="405405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continuación</a:t>
            </a:r>
            <a:endParaRPr lang="es-PE" dirty="0"/>
          </a:p>
        </p:txBody>
      </p:sp>
      <p:sp>
        <p:nvSpPr>
          <p:cNvPr id="3" name="Marcador de contenido 2"/>
          <p:cNvSpPr>
            <a:spLocks noGrp="1"/>
          </p:cNvSpPr>
          <p:nvPr>
            <p:ph idx="1"/>
          </p:nvPr>
        </p:nvSpPr>
        <p:spPr/>
        <p:txBody>
          <a:bodyPr/>
          <a:lstStyle/>
          <a:p>
            <a:r>
              <a:rPr lang="es-MX" b="1" dirty="0"/>
              <a:t>Escenario #3 Deserialización insegura:</a:t>
            </a:r>
            <a:r>
              <a:rPr lang="es-MX" dirty="0"/>
              <a:t> Una aplicación </a:t>
            </a:r>
            <a:r>
              <a:rPr lang="es-MX" i="1" dirty="0" err="1"/>
              <a:t>React</a:t>
            </a:r>
            <a:r>
              <a:rPr lang="es-MX" dirty="0"/>
              <a:t> utiliza un conjunto de microservicios implementados en Spring Boot. Tratándose de programadores funcionales, intentaron asegurarse de que su código fuera inmutable. La solución implementada consistió en serializar el estado de la sesión para el usuario y enviarlo entre los componentes con cada solicitud. Un atacante advierte el uso de un objeto Java serializado y codificado en base64 (identifica un </a:t>
            </a:r>
            <a:r>
              <a:rPr lang="es-MX" dirty="0" err="1"/>
              <a:t>string</a:t>
            </a:r>
            <a:r>
              <a:rPr lang="es-MX" dirty="0"/>
              <a:t> que comienza con "rO0") y utiliza la herramienta </a:t>
            </a:r>
            <a:r>
              <a:rPr lang="es-MX" i="1" dirty="0"/>
              <a:t>Java Serial </a:t>
            </a:r>
            <a:r>
              <a:rPr lang="es-MX" i="1" dirty="0" err="1"/>
              <a:t>Killer</a:t>
            </a:r>
            <a:r>
              <a:rPr lang="es-MX" dirty="0"/>
              <a:t> para obtener una ejecución remota de código en el servidor de aplicación.</a:t>
            </a:r>
            <a:endParaRPr lang="es-PE" dirty="0"/>
          </a:p>
        </p:txBody>
      </p:sp>
    </p:spTree>
    <p:extLst>
      <p:ext uri="{BB962C8B-B14F-4D97-AF65-F5344CB8AC3E}">
        <p14:creationId xmlns:p14="http://schemas.microsoft.com/office/powerpoint/2010/main" val="4494577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Laboratorio</a:t>
            </a:r>
            <a:endParaRPr lang="es-PE" dirty="0"/>
          </a:p>
        </p:txBody>
      </p:sp>
      <p:sp>
        <p:nvSpPr>
          <p:cNvPr id="3" name="Marcador de contenido 2"/>
          <p:cNvSpPr>
            <a:spLocks noGrp="1"/>
          </p:cNvSpPr>
          <p:nvPr>
            <p:ph idx="1"/>
          </p:nvPr>
        </p:nvSpPr>
        <p:spPr/>
        <p:txBody>
          <a:bodyPr/>
          <a:lstStyle/>
          <a:p>
            <a:r>
              <a:rPr lang="es-PE" dirty="0" smtClean="0"/>
              <a:t>Realizar el ejercicio </a:t>
            </a:r>
            <a:r>
              <a:rPr lang="es-PE" dirty="0" smtClean="0">
                <a:solidFill>
                  <a:srgbClr val="00B050"/>
                </a:solidFill>
              </a:rPr>
              <a:t>(A8) </a:t>
            </a:r>
            <a:r>
              <a:rPr lang="en-US" dirty="0">
                <a:solidFill>
                  <a:srgbClr val="00B050"/>
                </a:solidFill>
              </a:rPr>
              <a:t>Software and Data Integrity Failures</a:t>
            </a:r>
          </a:p>
          <a:p>
            <a:endParaRPr lang="es-PE" dirty="0">
              <a:solidFill>
                <a:srgbClr val="00B050"/>
              </a:solidFill>
            </a:endParaRPr>
          </a:p>
          <a:p>
            <a:endParaRPr lang="es-PE" dirty="0">
              <a:solidFill>
                <a:srgbClr val="00B050"/>
              </a:solidFill>
            </a:endParaRPr>
          </a:p>
          <a:p>
            <a:endParaRPr lang="es-PE" dirty="0">
              <a:solidFill>
                <a:srgbClr val="00B050"/>
              </a:solidFill>
            </a:endParaRPr>
          </a:p>
          <a:p>
            <a:endParaRPr lang="es-PE" dirty="0">
              <a:solidFill>
                <a:srgbClr val="00B050"/>
              </a:solidFill>
            </a:endParaRPr>
          </a:p>
        </p:txBody>
      </p:sp>
      <p:pic>
        <p:nvPicPr>
          <p:cNvPr id="4" name="Imagen 3"/>
          <p:cNvPicPr>
            <a:picLocks noChangeAspect="1"/>
          </p:cNvPicPr>
          <p:nvPr/>
        </p:nvPicPr>
        <p:blipFill>
          <a:blip r:embed="rId2"/>
          <a:stretch>
            <a:fillRect/>
          </a:stretch>
        </p:blipFill>
        <p:spPr>
          <a:xfrm>
            <a:off x="1192004" y="2393830"/>
            <a:ext cx="2295845" cy="3477110"/>
          </a:xfrm>
          <a:prstGeom prst="rect">
            <a:avLst/>
          </a:prstGeom>
        </p:spPr>
      </p:pic>
      <p:sp>
        <p:nvSpPr>
          <p:cNvPr id="5" name="Rectángulo 4"/>
          <p:cNvSpPr/>
          <p:nvPr/>
        </p:nvSpPr>
        <p:spPr>
          <a:xfrm>
            <a:off x="1192003" y="5004581"/>
            <a:ext cx="2295845" cy="30948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2995510293"/>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317</TotalTime>
  <Words>448</Words>
  <Application>Microsoft Office PowerPoint</Application>
  <PresentationFormat>Panorámica</PresentationFormat>
  <Paragraphs>32</Paragraphs>
  <Slides>12</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12</vt:i4>
      </vt:variant>
    </vt:vector>
  </HeadingPairs>
  <TitlesOfParts>
    <vt:vector size="17" baseType="lpstr">
      <vt:lpstr>Arial</vt:lpstr>
      <vt:lpstr>Calibri</vt:lpstr>
      <vt:lpstr>Calibri Light</vt:lpstr>
      <vt:lpstr>Monserrat</vt:lpstr>
      <vt:lpstr>Tema de Office</vt:lpstr>
      <vt:lpstr>Presentación de PowerPoint</vt:lpstr>
      <vt:lpstr>Presentación de PowerPoint</vt:lpstr>
      <vt:lpstr>Seguridad de Aplicaciones Web y Apis basado en Vulnerabilidades OWASP Top 10:2025</vt:lpstr>
      <vt:lpstr>A08 Software and Data Integrity Failures</vt:lpstr>
      <vt:lpstr>Descripción</vt:lpstr>
      <vt:lpstr>Vulnerabilidades</vt:lpstr>
      <vt:lpstr>Prevención</vt:lpstr>
      <vt:lpstr>Presentación de PowerPoint</vt:lpstr>
      <vt:lpstr>Escenarios</vt:lpstr>
      <vt:lpstr>continuación</vt:lpstr>
      <vt:lpstr>continuación</vt:lpstr>
      <vt:lpstr>Laboratorio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Daddy</dc:creator>
  <cp:lastModifiedBy>ccarrenovi</cp:lastModifiedBy>
  <cp:revision>21</cp:revision>
  <dcterms:created xsi:type="dcterms:W3CDTF">2023-10-31T14:58:50Z</dcterms:created>
  <dcterms:modified xsi:type="dcterms:W3CDTF">2026-10-19T22:36:36Z</dcterms:modified>
</cp:coreProperties>
</file>